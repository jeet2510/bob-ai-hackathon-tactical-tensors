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9419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after a mass-casualty disaster, families wait days to weeks to learn whether a body is theirs. DVI Coordinator digitises the INTERPOL forms field teams already use and ranks, for every body, which missing-person reports to test first — with the reasoning shown. It never declares an identification; a human does.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DVI is the discipline of matching post-mortem evidence to ante-mortem records. INTERPOL defines four phases; our tool accelerates phases 2 to 4 — the data capture and the reconciliation, which is where the time goes. The 2004 tsunami shows the scale: 5,000 identified in Thailand by 2,000+ specialists from 31 countries.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Balasore is the proof this is not hypothetical: 296 dead, visual ID impossible, no reservation records for general-class passengers, and days later 81 bodies were still unidentified — with documented cases of bodies released to the wrong families. Paper forms are a recording format, not a matching system. Spreadsheets can filter but cannot rank or fall back. The 13,000 figure is simple arithmetic: 100 bodies times 130 reports.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field teams fill digital Pink (post-mortem) and Yellow (ante-mortem) forms laid out exactly like INTERPOL’s. Everything lands in one structured database. The EvidenceScorer compares every body against every report across 17 weighted categories. The ConfirmationRoute then names the fastest viable confirmation test — and, crucially, falls back to strong secondary evidence such as an implant serial when fingerprints, dental and DNA are all unusable. Output is a ranked shortlist per body with the reasoning; a human examiner makes the call. Weights follow INTERPOL reliability tiers; weak demographic agreement is damped so it can never outweigh a scar.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differentiators. One: we did not retrofit a generic form tool — the forms mirror INTERPOL Pink and Yellow section for section. Two: evidence is weighted by forensic reliability tier. Three: we designed for the realistic case of degraded evidence, and missing or unassessable features score zero rather than counting against a match. Four: we proved it — form-to-database extraction reconstructs ground-truth records exactly, and the matcher resolved a case where no primary identifier was usable.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this. In the hard case DNA is degraded, dental is unexaminable and prints are unusable — a checklist system stalls here. Our engine surfaced a titanium implant serial recorded on the post-mortem exam and on the family’s hospital discharge papers, and the ConfirmationRoute pointed to that record. On unseen holdout data we pick the right report first 20 times out of 22, and the true match has never been dropped from the shortlist. We have not measured field time savings yet — that is exactly what we want a pilot to measure. Our ask: a pilot partner and your vote.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pic>
        <p:nvPicPr>
          <p:cNvPr id="2" name="Image 0" descr="contour.png"/>
          <p:cNvPicPr>
            <a:picLocks noChangeAspect="1"/>
          </p:cNvPicPr>
          <p:nvPr/>
        </p:nvPicPr>
        <p:blipFill>
          <a:blip r:embed="rId3"/>
          <a:stretch>
            <a:fillRect/>
          </a:stretch>
        </p:blipFill>
        <p:spPr>
          <a:xfrm>
            <a:off x="0" y="8965"/>
            <a:ext cx="12191695" cy="6858000"/>
          </a:xfrm>
          <a:prstGeom prst="rect">
            <a:avLst/>
          </a:prstGeom>
        </p:spPr>
      </p:pic>
      <p:sp>
        <p:nvSpPr>
          <p:cNvPr id="3" name="anim_00_0"/>
          <p:cNvSpPr txBox="1"/>
          <p:nvPr/>
        </p:nvSpPr>
        <p:spPr>
          <a:xfrm>
            <a:off x="640080" y="1234440"/>
            <a:ext cx="5486400" cy="320040"/>
          </a:xfrm>
          <a:prstGeom prst="rect">
            <a:avLst/>
          </a:prstGeom>
          <a:noFill/>
          <a:ln/>
        </p:spPr>
        <p:txBody>
          <a:bodyPr wrap="square" lIns="0" tIns="0" rIns="0" bIns="0" rtlCol="0" anchor="ctr"/>
          <a:lstStyle/>
          <a:p>
            <a:pPr marL="0" indent="0">
              <a:buNone/>
            </a:pPr>
            <a:r>
              <a:rPr lang="en-US" sz="1400" b="1" kern="0" spc="400" dirty="0">
                <a:solidFill>
                  <a:srgbClr val="F5A524"/>
                </a:solidFill>
                <a:latin typeface="Calibri" pitchFamily="34" charset="0"/>
                <a:ea typeface="Calibri" pitchFamily="34" charset="-122"/>
                <a:cs typeface="Calibri" pitchFamily="34" charset="-120"/>
              </a:rPr>
              <a:t>TEAM TACTICAL TENSORS</a:t>
            </a:r>
            <a:endParaRPr lang="en-US" sz="1400" dirty="0"/>
          </a:p>
        </p:txBody>
      </p:sp>
      <p:sp>
        <p:nvSpPr>
          <p:cNvPr id="4" name="anim_00_1"/>
          <p:cNvSpPr txBox="1"/>
          <p:nvPr/>
        </p:nvSpPr>
        <p:spPr>
          <a:xfrm>
            <a:off x="640080" y="1645920"/>
            <a:ext cx="7315200" cy="1005840"/>
          </a:xfrm>
          <a:prstGeom prst="rect">
            <a:avLst/>
          </a:prstGeom>
          <a:noFill/>
          <a:ln/>
        </p:spPr>
        <p:txBody>
          <a:bodyPr wrap="square" lIns="0" tIns="0" rIns="0" bIns="0" rtlCol="0" anchor="ctr"/>
          <a:lstStyle/>
          <a:p>
            <a:pPr marL="0" indent="0">
              <a:buNone/>
            </a:pPr>
            <a:r>
              <a:rPr lang="en-US" sz="6000" b="1" dirty="0">
                <a:solidFill>
                  <a:srgbClr val="EEF1F4"/>
                </a:solidFill>
                <a:latin typeface="Arial" pitchFamily="34" charset="0"/>
                <a:ea typeface="Arial" pitchFamily="34" charset="-122"/>
                <a:cs typeface="Arial" pitchFamily="34" charset="-120"/>
              </a:rPr>
              <a:t>DVI Coordinator</a:t>
            </a:r>
            <a:endParaRPr lang="en-US" sz="6000" dirty="0"/>
          </a:p>
        </p:txBody>
      </p:sp>
      <p:sp>
        <p:nvSpPr>
          <p:cNvPr id="5" name="anim_01_2"/>
          <p:cNvSpPr txBox="1"/>
          <p:nvPr/>
        </p:nvSpPr>
        <p:spPr>
          <a:xfrm>
            <a:off x="640080" y="2743200"/>
            <a:ext cx="6035040" cy="914400"/>
          </a:xfrm>
          <a:prstGeom prst="rect">
            <a:avLst/>
          </a:prstGeom>
          <a:noFill/>
          <a:ln/>
        </p:spPr>
        <p:txBody>
          <a:bodyPr wrap="square" lIns="0" tIns="0" rIns="0" bIns="0" rtlCol="0" anchor="ctr"/>
          <a:lstStyle/>
          <a:p>
            <a:pPr marL="0" indent="0">
              <a:buNone/>
            </a:pPr>
            <a:r>
              <a:rPr lang="en-US" sz="2000" dirty="0">
                <a:solidFill>
                  <a:srgbClr val="9AA7B4"/>
                </a:solidFill>
                <a:latin typeface="Calibri" pitchFamily="34" charset="0"/>
                <a:ea typeface="Calibri" pitchFamily="34" charset="-122"/>
                <a:cs typeface="Calibri" pitchFamily="34" charset="-120"/>
              </a:rPr>
              <a:t>Turns INTERPOL’s paper victim-identification forms into a ranked, explainable shortlist of who each body could be.</a:t>
            </a:r>
            <a:endParaRPr lang="en-US" sz="2000" dirty="0"/>
          </a:p>
        </p:txBody>
      </p:sp>
      <p:sp>
        <p:nvSpPr>
          <p:cNvPr id="6" name="anim_02_3"/>
          <p:cNvSpPr txBox="1"/>
          <p:nvPr/>
        </p:nvSpPr>
        <p:spPr>
          <a:xfrm>
            <a:off x="640080" y="3840480"/>
            <a:ext cx="6400800" cy="457200"/>
          </a:xfrm>
          <a:prstGeom prst="rect">
            <a:avLst/>
          </a:prstGeom>
          <a:noFill/>
          <a:ln/>
        </p:spPr>
        <p:txBody>
          <a:bodyPr wrap="square" lIns="0" tIns="0" rIns="0" bIns="0" rtlCol="0" anchor="ctr"/>
          <a:lstStyle/>
          <a:p>
            <a:pPr marL="0" indent="0">
              <a:buNone/>
            </a:pPr>
            <a:r>
              <a:rPr lang="en-US" sz="2200" b="1" i="1" dirty="0">
                <a:solidFill>
                  <a:srgbClr val="F5A524"/>
                </a:solidFill>
                <a:latin typeface="Calibri" pitchFamily="34" charset="0"/>
                <a:ea typeface="Calibri" pitchFamily="34" charset="-122"/>
                <a:cs typeface="Calibri" pitchFamily="34" charset="-120"/>
              </a:rPr>
              <a:t>Every unidentified body is a family still waiting.</a:t>
            </a:r>
            <a:endParaRPr lang="en-US" sz="2200" dirty="0"/>
          </a:p>
        </p:txBody>
      </p:sp>
      <p:sp>
        <p:nvSpPr>
          <p:cNvPr id="7" name="anim_03_4"/>
          <p:cNvSpPr/>
          <p:nvPr/>
        </p:nvSpPr>
        <p:spPr>
          <a:xfrm>
            <a:off x="640080" y="5074920"/>
            <a:ext cx="2606040" cy="685800"/>
          </a:xfrm>
          <a:prstGeom prst="roundRect">
            <a:avLst>
              <a:gd name="adj" fmla="val 10667"/>
            </a:avLst>
          </a:prstGeom>
          <a:solidFill>
            <a:srgbClr val="17212B"/>
          </a:solidFill>
          <a:ln w="12700">
            <a:solidFill>
              <a:srgbClr val="2E3C4A"/>
            </a:solidFill>
            <a:prstDash val="solid"/>
          </a:ln>
        </p:spPr>
      </p:sp>
      <p:pic>
        <p:nvPicPr>
          <p:cNvPr id="8" name="anim_03_5" descr="preencoded.png"/>
          <p:cNvPicPr>
            <a:picLocks noChangeAspect="1"/>
          </p:cNvPicPr>
          <p:nvPr/>
        </p:nvPicPr>
        <p:blipFill>
          <a:blip r:embed="rId4"/>
          <a:stretch>
            <a:fillRect/>
          </a:stretch>
        </p:blipFill>
        <p:spPr>
          <a:xfrm>
            <a:off x="822960" y="5266944"/>
            <a:ext cx="301752" cy="301752"/>
          </a:xfrm>
          <a:prstGeom prst="rect">
            <a:avLst/>
          </a:prstGeom>
        </p:spPr>
      </p:pic>
      <p:sp>
        <p:nvSpPr>
          <p:cNvPr id="9" name="anim_03_6"/>
          <p:cNvSpPr txBox="1"/>
          <p:nvPr/>
        </p:nvSpPr>
        <p:spPr>
          <a:xfrm>
            <a:off x="1234440" y="5074920"/>
            <a:ext cx="1920240" cy="68580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INTERPOL Pink/Yellow forms, digitised</a:t>
            </a:r>
            <a:endParaRPr lang="en-US" sz="1300" dirty="0"/>
          </a:p>
        </p:txBody>
      </p:sp>
      <p:sp>
        <p:nvSpPr>
          <p:cNvPr id="10" name="anim_03_7"/>
          <p:cNvSpPr/>
          <p:nvPr/>
        </p:nvSpPr>
        <p:spPr>
          <a:xfrm>
            <a:off x="3429000" y="5074920"/>
            <a:ext cx="2606040" cy="685800"/>
          </a:xfrm>
          <a:prstGeom prst="roundRect">
            <a:avLst>
              <a:gd name="adj" fmla="val 10667"/>
            </a:avLst>
          </a:prstGeom>
          <a:solidFill>
            <a:srgbClr val="17212B"/>
          </a:solidFill>
          <a:ln w="12700">
            <a:solidFill>
              <a:srgbClr val="2E3C4A"/>
            </a:solidFill>
            <a:prstDash val="solid"/>
          </a:ln>
        </p:spPr>
      </p:sp>
      <p:pic>
        <p:nvPicPr>
          <p:cNvPr id="11" name="anim_03_8" descr="preencoded.png"/>
          <p:cNvPicPr>
            <a:picLocks noChangeAspect="1"/>
          </p:cNvPicPr>
          <p:nvPr/>
        </p:nvPicPr>
        <p:blipFill>
          <a:blip r:embed="rId5"/>
          <a:stretch>
            <a:fillRect/>
          </a:stretch>
        </p:blipFill>
        <p:spPr>
          <a:xfrm>
            <a:off x="3611880" y="5266944"/>
            <a:ext cx="301752" cy="301752"/>
          </a:xfrm>
          <a:prstGeom prst="rect">
            <a:avLst/>
          </a:prstGeom>
        </p:spPr>
      </p:pic>
      <p:sp>
        <p:nvSpPr>
          <p:cNvPr id="12" name="anim_03_9"/>
          <p:cNvSpPr txBox="1"/>
          <p:nvPr/>
        </p:nvSpPr>
        <p:spPr>
          <a:xfrm>
            <a:off x="4023360" y="5074920"/>
            <a:ext cx="1920240" cy="68580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17 weighted evidence categories</a:t>
            </a:r>
            <a:endParaRPr lang="en-US" sz="1300" dirty="0"/>
          </a:p>
        </p:txBody>
      </p:sp>
      <p:sp>
        <p:nvSpPr>
          <p:cNvPr id="13" name="anim_03_10"/>
          <p:cNvSpPr/>
          <p:nvPr/>
        </p:nvSpPr>
        <p:spPr>
          <a:xfrm>
            <a:off x="6217920" y="5074920"/>
            <a:ext cx="2606040" cy="685800"/>
          </a:xfrm>
          <a:prstGeom prst="roundRect">
            <a:avLst>
              <a:gd name="adj" fmla="val 10667"/>
            </a:avLst>
          </a:prstGeom>
          <a:solidFill>
            <a:srgbClr val="17212B"/>
          </a:solidFill>
          <a:ln w="12700">
            <a:solidFill>
              <a:srgbClr val="2E3C4A"/>
            </a:solidFill>
            <a:prstDash val="solid"/>
          </a:ln>
        </p:spPr>
      </p:sp>
      <p:pic>
        <p:nvPicPr>
          <p:cNvPr id="14" name="anim_03_11" descr="preencoded.png"/>
          <p:cNvPicPr>
            <a:picLocks noChangeAspect="1"/>
          </p:cNvPicPr>
          <p:nvPr/>
        </p:nvPicPr>
        <p:blipFill>
          <a:blip r:embed="rId6"/>
          <a:stretch>
            <a:fillRect/>
          </a:stretch>
        </p:blipFill>
        <p:spPr>
          <a:xfrm>
            <a:off x="6400800" y="5266944"/>
            <a:ext cx="301752" cy="301752"/>
          </a:xfrm>
          <a:prstGeom prst="rect">
            <a:avLst/>
          </a:prstGeom>
        </p:spPr>
      </p:pic>
      <p:sp>
        <p:nvSpPr>
          <p:cNvPr id="15" name="anim_03_12"/>
          <p:cNvSpPr txBox="1"/>
          <p:nvPr/>
        </p:nvSpPr>
        <p:spPr>
          <a:xfrm>
            <a:off x="6812280" y="5074920"/>
            <a:ext cx="1920240" cy="68580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Tiered confirmation routing</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childTnLst>
                          </p:cTn>
                        </p:par>
                        <p:par>
                          <p:cTn id="11" fill="hold">
                            <p:stCondLst>
                              <p:cond delay="450"/>
                            </p:stCondLst>
                            <p:childTnLst>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childTnLst>
                          </p:cTn>
                        </p:par>
                        <p:par>
                          <p:cTn id="15" fill="hold">
                            <p:stCondLst>
                              <p:cond delay="900"/>
                            </p:stCondLst>
                            <p:childTnLst>
                              <p:par>
                                <p:cTn id="16" presetID="10"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childTnLst>
                          </p:cTn>
                        </p:par>
                        <p:par>
                          <p:cTn id="19" fill="hold">
                            <p:stCondLst>
                              <p:cond delay="1350"/>
                            </p:stCondLst>
                            <p:childTnLst>
                              <p:par>
                                <p:cTn id="20" presetID="10"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THE DISCIPLINE</a:t>
            </a:r>
            <a:endParaRPr lang="en-US" sz="1200" dirty="0"/>
          </a:p>
        </p:txBody>
      </p:sp>
      <p:sp>
        <p:nvSpPr>
          <p:cNvPr id="3" name="anim_00_13"/>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EEF1F4"/>
                </a:solidFill>
                <a:latin typeface="Arial" pitchFamily="34" charset="0"/>
                <a:ea typeface="Arial" pitchFamily="34" charset="-122"/>
                <a:cs typeface="Arial" pitchFamily="34" charset="-120"/>
              </a:rPr>
              <a:t>DVI puts names to the dead — at disaster scale</a:t>
            </a:r>
            <a:endParaRPr lang="en-US" sz="3400" dirty="0"/>
          </a:p>
        </p:txBody>
      </p:sp>
      <p:sp>
        <p:nvSpPr>
          <p:cNvPr id="4" name="anim_01_14"/>
          <p:cNvSpPr txBox="1"/>
          <p:nvPr/>
        </p:nvSpPr>
        <p:spPr>
          <a:xfrm>
            <a:off x="548640" y="1417320"/>
            <a:ext cx="6675120" cy="1097280"/>
          </a:xfrm>
          <a:prstGeom prst="rect">
            <a:avLst/>
          </a:prstGeom>
          <a:noFill/>
          <a:ln/>
        </p:spPr>
        <p:txBody>
          <a:bodyPr wrap="square" lIns="0" tIns="0" rIns="0" bIns="0" rtlCol="0" anchor="t"/>
          <a:lstStyle/>
          <a:p>
            <a:pPr marL="0" indent="0">
              <a:buNone/>
            </a:pPr>
            <a:r>
              <a:rPr lang="en-US" sz="1900" b="1" dirty="0">
                <a:solidFill>
                  <a:srgbClr val="EEF1F4"/>
                </a:solidFill>
                <a:latin typeface="Calibri" pitchFamily="34" charset="0"/>
                <a:ea typeface="Calibri" pitchFamily="34" charset="-122"/>
                <a:cs typeface="Calibri" pitchFamily="34" charset="-120"/>
              </a:rPr>
              <a:t>Disaster Victim Identification (DVI)</a:t>
            </a:r>
            <a:r>
              <a:rPr lang="en-US" sz="1900" dirty="0">
                <a:solidFill>
                  <a:srgbClr val="9AA7B4"/>
                </a:solidFill>
                <a:latin typeface="Calibri" pitchFamily="34" charset="0"/>
                <a:ea typeface="Calibri" pitchFamily="34" charset="-122"/>
                <a:cs typeface="Calibri" pitchFamily="34" charset="-120"/>
              </a:rPr>
              <a:t> is INTERPOL’s standard for identifying mass-casualty victims: match what examiners find on a body to records supplied by families.</a:t>
            </a:r>
            <a:endParaRPr lang="en-US" sz="1900" dirty="0"/>
          </a:p>
        </p:txBody>
      </p:sp>
      <p:sp>
        <p:nvSpPr>
          <p:cNvPr id="5" name="anim_01_15"/>
          <p:cNvSpPr txBox="1"/>
          <p:nvPr/>
        </p:nvSpPr>
        <p:spPr>
          <a:xfrm>
            <a:off x="548640" y="2560320"/>
            <a:ext cx="6675120" cy="731520"/>
          </a:xfrm>
          <a:prstGeom prst="rect">
            <a:avLst/>
          </a:prstGeom>
          <a:noFill/>
          <a:ln/>
        </p:spPr>
        <p:txBody>
          <a:bodyPr wrap="square" lIns="0" tIns="0" rIns="0" bIns="0" rtlCol="0" anchor="t"/>
          <a:lstStyle/>
          <a:p>
            <a:pPr marL="0" indent="0">
              <a:buNone/>
            </a:pPr>
            <a:r>
              <a:rPr lang="en-US" sz="1600" b="1" dirty="0">
                <a:solidFill>
                  <a:srgbClr val="EEF1F4"/>
                </a:solidFill>
                <a:latin typeface="Calibri" pitchFamily="34" charset="0"/>
                <a:ea typeface="Calibri" pitchFamily="34" charset="-122"/>
                <a:cs typeface="Calibri" pitchFamily="34" charset="-120"/>
              </a:rPr>
              <a:t>Visual recognition is rejected as unreliable. </a:t>
            </a:r>
            <a:r>
              <a:rPr lang="en-US" sz="1600" dirty="0">
                <a:solidFill>
                  <a:srgbClr val="9AA7B4"/>
                </a:solidFill>
                <a:latin typeface="Calibri" pitchFamily="34" charset="0"/>
                <a:ea typeface="Calibri" pitchFamily="34" charset="-122"/>
                <a:cs typeface="Calibri" pitchFamily="34" charset="-120"/>
              </a:rPr>
              <a:t>Identity is confirmed only by fingerprints, dental records or DNA.</a:t>
            </a:r>
            <a:endParaRPr lang="en-US" sz="1600" dirty="0"/>
          </a:p>
        </p:txBody>
      </p:sp>
      <p:sp>
        <p:nvSpPr>
          <p:cNvPr id="6" name="anim_02_16"/>
          <p:cNvSpPr/>
          <p:nvPr/>
        </p:nvSpPr>
        <p:spPr>
          <a:xfrm>
            <a:off x="7680960" y="1371600"/>
            <a:ext cx="3959352" cy="2240280"/>
          </a:xfrm>
          <a:prstGeom prst="roundRect">
            <a:avLst>
              <a:gd name="adj" fmla="val 4082"/>
            </a:avLst>
          </a:prstGeom>
          <a:solidFill>
            <a:srgbClr val="17212B"/>
          </a:solidFill>
          <a:ln w="12700">
            <a:solidFill>
              <a:srgbClr val="2E3C4A"/>
            </a:solidFill>
            <a:prstDash val="solid"/>
          </a:ln>
        </p:spPr>
      </p:sp>
      <p:sp>
        <p:nvSpPr>
          <p:cNvPr id="7" name="anim_02_17"/>
          <p:cNvSpPr txBox="1"/>
          <p:nvPr/>
        </p:nvSpPr>
        <p:spPr>
          <a:xfrm>
            <a:off x="7955280" y="1508760"/>
            <a:ext cx="3474720" cy="868680"/>
          </a:xfrm>
          <a:prstGeom prst="rect">
            <a:avLst/>
          </a:prstGeom>
          <a:noFill/>
          <a:ln/>
        </p:spPr>
        <p:txBody>
          <a:bodyPr wrap="square" lIns="0" tIns="0" rIns="0" bIns="0" rtlCol="0" anchor="ctr"/>
          <a:lstStyle/>
          <a:p>
            <a:pPr marL="0" indent="0">
              <a:buNone/>
            </a:pPr>
            <a:r>
              <a:rPr lang="en-US" sz="5600" b="1" dirty="0">
                <a:solidFill>
                  <a:srgbClr val="F5A524"/>
                </a:solidFill>
                <a:latin typeface="Arial" pitchFamily="34" charset="0"/>
                <a:ea typeface="Arial" pitchFamily="34" charset="-122"/>
                <a:cs typeface="Arial" pitchFamily="34" charset="-120"/>
              </a:rPr>
              <a:t>5,000</a:t>
            </a:r>
            <a:endParaRPr lang="en-US" sz="5600" dirty="0"/>
          </a:p>
        </p:txBody>
      </p:sp>
      <p:sp>
        <p:nvSpPr>
          <p:cNvPr id="8" name="anim_02_18"/>
          <p:cNvSpPr txBox="1"/>
          <p:nvPr/>
        </p:nvSpPr>
        <p:spPr>
          <a:xfrm>
            <a:off x="7955280" y="2377440"/>
            <a:ext cx="3474720" cy="594360"/>
          </a:xfrm>
          <a:prstGeom prst="rect">
            <a:avLst/>
          </a:prstGeom>
          <a:noFill/>
          <a:ln/>
        </p:spPr>
        <p:txBody>
          <a:bodyPr wrap="square" lIns="0" tIns="0" rIns="0" bIns="0" rtlCol="0" anchor="ctr"/>
          <a:lstStyle/>
          <a:p>
            <a:pPr marL="0" indent="0">
              <a:buNone/>
            </a:pPr>
            <a:r>
              <a:rPr lang="en-US" sz="1400" dirty="0">
                <a:solidFill>
                  <a:srgbClr val="EEF1F4"/>
                </a:solidFill>
                <a:latin typeface="Calibri" pitchFamily="34" charset="0"/>
                <a:ea typeface="Calibri" pitchFamily="34" charset="-122"/>
                <a:cs typeface="Calibri" pitchFamily="34" charset="-120"/>
              </a:rPr>
              <a:t>victims identified in Thailand after the 2004 Indian Ocean tsunami</a:t>
            </a:r>
            <a:endParaRPr lang="en-US" sz="1400" dirty="0"/>
          </a:p>
        </p:txBody>
      </p:sp>
      <p:sp>
        <p:nvSpPr>
          <p:cNvPr id="9" name="anim_02_19"/>
          <p:cNvSpPr txBox="1"/>
          <p:nvPr/>
        </p:nvSpPr>
        <p:spPr>
          <a:xfrm>
            <a:off x="7955280" y="2971800"/>
            <a:ext cx="3474720" cy="502920"/>
          </a:xfrm>
          <a:prstGeom prst="rect">
            <a:avLst/>
          </a:prstGeom>
          <a:noFill/>
          <a:ln/>
        </p:spPr>
        <p:txBody>
          <a:bodyPr wrap="square" lIns="0" tIns="0" rIns="0" bIns="0" rtlCol="0" anchor="ctr"/>
          <a:lstStyle/>
          <a:p>
            <a:pPr marL="0" indent="0">
              <a:buNone/>
            </a:pPr>
            <a:r>
              <a:rPr lang="en-US" sz="1200" dirty="0">
                <a:solidFill>
                  <a:srgbClr val="9AA7B4"/>
                </a:solidFill>
                <a:latin typeface="Calibri" pitchFamily="34" charset="0"/>
                <a:ea typeface="Calibri" pitchFamily="34" charset="-122"/>
                <a:cs typeface="Calibri" pitchFamily="34" charset="-120"/>
              </a:rPr>
              <a:t>2,000+ specialists · 31 countries · the largest DVI operation in history</a:t>
            </a:r>
            <a:endParaRPr lang="en-US" sz="1200" dirty="0"/>
          </a:p>
        </p:txBody>
      </p:sp>
      <p:sp>
        <p:nvSpPr>
          <p:cNvPr id="10" name="anim_04_20"/>
          <p:cNvSpPr/>
          <p:nvPr/>
        </p:nvSpPr>
        <p:spPr>
          <a:xfrm>
            <a:off x="3246120" y="4023360"/>
            <a:ext cx="8366760" cy="1783080"/>
          </a:xfrm>
          <a:prstGeom prst="roundRect">
            <a:avLst>
              <a:gd name="adj" fmla="val 5128"/>
            </a:avLst>
          </a:prstGeom>
          <a:solidFill>
            <a:srgbClr val="F5A524">
              <a:alpha val="10000"/>
            </a:srgbClr>
          </a:solidFill>
          <a:ln w="15875">
            <a:solidFill>
              <a:srgbClr val="F5A524"/>
            </a:solidFill>
            <a:prstDash val="dash"/>
          </a:ln>
        </p:spPr>
      </p:sp>
      <p:sp>
        <p:nvSpPr>
          <p:cNvPr id="11" name="anim_04_21"/>
          <p:cNvSpPr txBox="1"/>
          <p:nvPr/>
        </p:nvSpPr>
        <p:spPr>
          <a:xfrm>
            <a:off x="3337560" y="5852160"/>
            <a:ext cx="5486400" cy="32004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DVI Coordinator accelerates phases 2 → 4</a:t>
            </a:r>
            <a:endParaRPr lang="en-US" sz="1300" dirty="0"/>
          </a:p>
        </p:txBody>
      </p:sp>
      <p:sp>
        <p:nvSpPr>
          <p:cNvPr id="12" name="anim_03_22"/>
          <p:cNvSpPr/>
          <p:nvPr/>
        </p:nvSpPr>
        <p:spPr>
          <a:xfrm>
            <a:off x="640080" y="4206240"/>
            <a:ext cx="566928" cy="566928"/>
          </a:xfrm>
          <a:prstGeom prst="ellipse">
            <a:avLst/>
          </a:prstGeom>
          <a:solidFill>
            <a:srgbClr val="1F2B37"/>
          </a:solidFill>
          <a:ln w="12700">
            <a:solidFill>
              <a:srgbClr val="2E3C4A"/>
            </a:solidFill>
            <a:prstDash val="solid"/>
          </a:ln>
        </p:spPr>
      </p:sp>
      <p:pic>
        <p:nvPicPr>
          <p:cNvPr id="13" name="anim_03_23" descr="preencoded.png"/>
          <p:cNvPicPr>
            <a:picLocks noChangeAspect="1"/>
          </p:cNvPicPr>
          <p:nvPr/>
        </p:nvPicPr>
        <p:blipFill>
          <a:blip r:embed="rId3"/>
          <a:stretch>
            <a:fillRect/>
          </a:stretch>
        </p:blipFill>
        <p:spPr>
          <a:xfrm>
            <a:off x="787481" y="4353641"/>
            <a:ext cx="272125" cy="272125"/>
          </a:xfrm>
          <a:prstGeom prst="rect">
            <a:avLst/>
          </a:prstGeom>
        </p:spPr>
      </p:pic>
      <p:sp>
        <p:nvSpPr>
          <p:cNvPr id="14" name="anim_03_24"/>
          <p:cNvSpPr txBox="1"/>
          <p:nvPr/>
        </p:nvSpPr>
        <p:spPr>
          <a:xfrm>
            <a:off x="640080" y="4892040"/>
            <a:ext cx="2423160" cy="36576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1  Scene examination</a:t>
            </a:r>
            <a:endParaRPr lang="en-US" sz="1500" dirty="0"/>
          </a:p>
        </p:txBody>
      </p:sp>
      <p:sp>
        <p:nvSpPr>
          <p:cNvPr id="15" name="anim_03_25"/>
          <p:cNvSpPr txBox="1"/>
          <p:nvPr/>
        </p:nvSpPr>
        <p:spPr>
          <a:xfrm>
            <a:off x="640080" y="5257800"/>
            <a:ext cx="2423160" cy="320040"/>
          </a:xfrm>
          <a:prstGeom prst="rect">
            <a:avLst/>
          </a:prstGeom>
          <a:noFill/>
          <a:ln/>
        </p:spPr>
        <p:txBody>
          <a:bodyPr wrap="square" lIns="0" tIns="0" rIns="0" bIns="0" rtlCol="0" anchor="ctr"/>
          <a:lstStyle/>
          <a:p>
            <a:pPr marL="0" indent="0">
              <a:buNone/>
            </a:pPr>
            <a:r>
              <a:rPr lang="en-US" sz="1300" dirty="0">
                <a:solidFill>
                  <a:srgbClr val="9AA7B4"/>
                </a:solidFill>
                <a:latin typeface="Calibri" pitchFamily="34" charset="0"/>
                <a:ea typeface="Calibri" pitchFamily="34" charset="-122"/>
                <a:cs typeface="Calibri" pitchFamily="34" charset="-120"/>
              </a:rPr>
              <a:t>Recover remains &amp; property</a:t>
            </a:r>
            <a:endParaRPr lang="en-US" sz="1300" dirty="0"/>
          </a:p>
        </p:txBody>
      </p:sp>
      <p:sp>
        <p:nvSpPr>
          <p:cNvPr id="16" name="anim_03_26"/>
          <p:cNvSpPr/>
          <p:nvPr/>
        </p:nvSpPr>
        <p:spPr>
          <a:xfrm>
            <a:off x="3429000" y="4206240"/>
            <a:ext cx="566928" cy="566928"/>
          </a:xfrm>
          <a:prstGeom prst="ellipse">
            <a:avLst/>
          </a:prstGeom>
          <a:solidFill>
            <a:srgbClr val="1F2B37"/>
          </a:solidFill>
          <a:ln w="12700">
            <a:solidFill>
              <a:srgbClr val="2E3C4A"/>
            </a:solidFill>
            <a:prstDash val="solid"/>
          </a:ln>
        </p:spPr>
      </p:sp>
      <p:pic>
        <p:nvPicPr>
          <p:cNvPr id="17" name="anim_03_27" descr="preencoded.png"/>
          <p:cNvPicPr>
            <a:picLocks noChangeAspect="1"/>
          </p:cNvPicPr>
          <p:nvPr/>
        </p:nvPicPr>
        <p:blipFill>
          <a:blip r:embed="rId4"/>
          <a:stretch>
            <a:fillRect/>
          </a:stretch>
        </p:blipFill>
        <p:spPr>
          <a:xfrm>
            <a:off x="3576401" y="4353641"/>
            <a:ext cx="272125" cy="272125"/>
          </a:xfrm>
          <a:prstGeom prst="rect">
            <a:avLst/>
          </a:prstGeom>
        </p:spPr>
      </p:pic>
      <p:sp>
        <p:nvSpPr>
          <p:cNvPr id="18" name="anim_03_28"/>
          <p:cNvSpPr txBox="1"/>
          <p:nvPr/>
        </p:nvSpPr>
        <p:spPr>
          <a:xfrm>
            <a:off x="3429000" y="4892040"/>
            <a:ext cx="2423160" cy="36576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2  Post-mortem data</a:t>
            </a:r>
            <a:endParaRPr lang="en-US" sz="1500" dirty="0"/>
          </a:p>
        </p:txBody>
      </p:sp>
      <p:sp>
        <p:nvSpPr>
          <p:cNvPr id="19" name="anim_03_29"/>
          <p:cNvSpPr txBox="1"/>
          <p:nvPr/>
        </p:nvSpPr>
        <p:spPr>
          <a:xfrm>
            <a:off x="3429000" y="5257800"/>
            <a:ext cx="2423160" cy="320040"/>
          </a:xfrm>
          <a:prstGeom prst="rect">
            <a:avLst/>
          </a:prstGeom>
          <a:noFill/>
          <a:ln/>
        </p:spPr>
        <p:txBody>
          <a:bodyPr wrap="square" lIns="0" tIns="0" rIns="0" bIns="0" rtlCol="0" anchor="ctr"/>
          <a:lstStyle/>
          <a:p>
            <a:pPr marL="0" indent="0">
              <a:buNone/>
            </a:pPr>
            <a:r>
              <a:rPr lang="en-US" sz="1300" dirty="0">
                <a:solidFill>
                  <a:srgbClr val="9AA7B4"/>
                </a:solidFill>
                <a:latin typeface="Calibri" pitchFamily="34" charset="0"/>
                <a:ea typeface="Calibri" pitchFamily="34" charset="-122"/>
                <a:cs typeface="Calibri" pitchFamily="34" charset="-120"/>
              </a:rPr>
              <a:t>Prints, teeth, DNA, marks</a:t>
            </a:r>
            <a:endParaRPr lang="en-US" sz="1300" dirty="0"/>
          </a:p>
        </p:txBody>
      </p:sp>
      <p:sp>
        <p:nvSpPr>
          <p:cNvPr id="20" name="anim_03_30"/>
          <p:cNvSpPr/>
          <p:nvPr/>
        </p:nvSpPr>
        <p:spPr>
          <a:xfrm>
            <a:off x="6217920" y="4206240"/>
            <a:ext cx="566928" cy="566928"/>
          </a:xfrm>
          <a:prstGeom prst="ellipse">
            <a:avLst/>
          </a:prstGeom>
          <a:solidFill>
            <a:srgbClr val="1F2B37"/>
          </a:solidFill>
          <a:ln w="12700">
            <a:solidFill>
              <a:srgbClr val="2E3C4A"/>
            </a:solidFill>
            <a:prstDash val="solid"/>
          </a:ln>
        </p:spPr>
      </p:sp>
      <p:pic>
        <p:nvPicPr>
          <p:cNvPr id="21" name="anim_03_31" descr="preencoded.png"/>
          <p:cNvPicPr>
            <a:picLocks noChangeAspect="1"/>
          </p:cNvPicPr>
          <p:nvPr/>
        </p:nvPicPr>
        <p:blipFill>
          <a:blip r:embed="rId5"/>
          <a:stretch>
            <a:fillRect/>
          </a:stretch>
        </p:blipFill>
        <p:spPr>
          <a:xfrm>
            <a:off x="6365321" y="4353641"/>
            <a:ext cx="272125" cy="272125"/>
          </a:xfrm>
          <a:prstGeom prst="rect">
            <a:avLst/>
          </a:prstGeom>
        </p:spPr>
      </p:pic>
      <p:sp>
        <p:nvSpPr>
          <p:cNvPr id="22" name="anim_03_32"/>
          <p:cNvSpPr txBox="1"/>
          <p:nvPr/>
        </p:nvSpPr>
        <p:spPr>
          <a:xfrm>
            <a:off x="6217920" y="4892040"/>
            <a:ext cx="2423160" cy="36576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3  Ante-mortem data</a:t>
            </a:r>
            <a:endParaRPr lang="en-US" sz="1500" dirty="0"/>
          </a:p>
        </p:txBody>
      </p:sp>
      <p:sp>
        <p:nvSpPr>
          <p:cNvPr id="23" name="anim_03_33"/>
          <p:cNvSpPr txBox="1"/>
          <p:nvPr/>
        </p:nvSpPr>
        <p:spPr>
          <a:xfrm>
            <a:off x="6217920" y="5257800"/>
            <a:ext cx="2423160" cy="320040"/>
          </a:xfrm>
          <a:prstGeom prst="rect">
            <a:avLst/>
          </a:prstGeom>
          <a:noFill/>
          <a:ln/>
        </p:spPr>
        <p:txBody>
          <a:bodyPr wrap="square" lIns="0" tIns="0" rIns="0" bIns="0" rtlCol="0" anchor="ctr"/>
          <a:lstStyle/>
          <a:p>
            <a:pPr marL="0" indent="0">
              <a:buNone/>
            </a:pPr>
            <a:r>
              <a:rPr lang="en-US" sz="1300" dirty="0">
                <a:solidFill>
                  <a:srgbClr val="9AA7B4"/>
                </a:solidFill>
                <a:latin typeface="Calibri" pitchFamily="34" charset="0"/>
                <a:ea typeface="Calibri" pitchFamily="34" charset="-122"/>
                <a:cs typeface="Calibri" pitchFamily="34" charset="-120"/>
              </a:rPr>
              <a:t>Records from families</a:t>
            </a:r>
            <a:endParaRPr lang="en-US" sz="1300" dirty="0"/>
          </a:p>
        </p:txBody>
      </p:sp>
      <p:sp>
        <p:nvSpPr>
          <p:cNvPr id="24" name="anim_03_34"/>
          <p:cNvSpPr/>
          <p:nvPr/>
        </p:nvSpPr>
        <p:spPr>
          <a:xfrm>
            <a:off x="9006840" y="4206240"/>
            <a:ext cx="566928" cy="566928"/>
          </a:xfrm>
          <a:prstGeom prst="ellipse">
            <a:avLst/>
          </a:prstGeom>
          <a:solidFill>
            <a:srgbClr val="1F2B37"/>
          </a:solidFill>
          <a:ln w="12700">
            <a:solidFill>
              <a:srgbClr val="2E3C4A"/>
            </a:solidFill>
            <a:prstDash val="solid"/>
          </a:ln>
        </p:spPr>
      </p:sp>
      <p:pic>
        <p:nvPicPr>
          <p:cNvPr id="25" name="anim_03_35" descr="preencoded.png"/>
          <p:cNvPicPr>
            <a:picLocks noChangeAspect="1"/>
          </p:cNvPicPr>
          <p:nvPr/>
        </p:nvPicPr>
        <p:blipFill>
          <a:blip r:embed="rId6"/>
          <a:stretch>
            <a:fillRect/>
          </a:stretch>
        </p:blipFill>
        <p:spPr>
          <a:xfrm>
            <a:off x="9154241" y="4353641"/>
            <a:ext cx="272125" cy="272125"/>
          </a:xfrm>
          <a:prstGeom prst="rect">
            <a:avLst/>
          </a:prstGeom>
        </p:spPr>
      </p:pic>
      <p:sp>
        <p:nvSpPr>
          <p:cNvPr id="26" name="anim_03_36"/>
          <p:cNvSpPr txBox="1"/>
          <p:nvPr/>
        </p:nvSpPr>
        <p:spPr>
          <a:xfrm>
            <a:off x="9006840" y="4892040"/>
            <a:ext cx="2423160" cy="36576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4  Reconciliation</a:t>
            </a:r>
            <a:endParaRPr lang="en-US" sz="1500" dirty="0"/>
          </a:p>
        </p:txBody>
      </p:sp>
      <p:sp>
        <p:nvSpPr>
          <p:cNvPr id="27" name="anim_03_37"/>
          <p:cNvSpPr txBox="1"/>
          <p:nvPr/>
        </p:nvSpPr>
        <p:spPr>
          <a:xfrm>
            <a:off x="9006840" y="5257800"/>
            <a:ext cx="2423160" cy="320040"/>
          </a:xfrm>
          <a:prstGeom prst="rect">
            <a:avLst/>
          </a:prstGeom>
          <a:noFill/>
          <a:ln/>
        </p:spPr>
        <p:txBody>
          <a:bodyPr wrap="square" lIns="0" tIns="0" rIns="0" bIns="0" rtlCol="0" anchor="ctr"/>
          <a:lstStyle/>
          <a:p>
            <a:pPr marL="0" indent="0">
              <a:buNone/>
            </a:pPr>
            <a:r>
              <a:rPr lang="en-US" sz="1300" dirty="0">
                <a:solidFill>
                  <a:srgbClr val="9AA7B4"/>
                </a:solidFill>
                <a:latin typeface="Calibri" pitchFamily="34" charset="0"/>
                <a:ea typeface="Calibri" pitchFamily="34" charset="-122"/>
                <a:cs typeface="Calibri" pitchFamily="34" charset="-120"/>
              </a:rPr>
              <a:t>Cross-match PM ↔ AM</a:t>
            </a:r>
            <a:endParaRPr lang="en-US" sz="1300" dirty="0"/>
          </a:p>
        </p:txBody>
      </p:sp>
      <p:sp>
        <p:nvSpPr>
          <p:cNvPr id="28" name="Text 22"/>
          <p:cNvSpPr txBox="1"/>
          <p:nvPr/>
        </p:nvSpPr>
        <p:spPr>
          <a:xfrm>
            <a:off x="548640" y="6400800"/>
            <a:ext cx="9875520" cy="274320"/>
          </a:xfrm>
          <a:prstGeom prst="rect">
            <a:avLst/>
          </a:prstGeom>
          <a:noFill/>
          <a:ln/>
        </p:spPr>
        <p:txBody>
          <a:bodyPr wrap="square" lIns="0" tIns="0" rIns="0" bIns="0" rtlCol="0" anchor="ctr"/>
          <a:lstStyle/>
          <a:p>
            <a:pPr marL="0" indent="0">
              <a:buNone/>
            </a:pPr>
            <a:r>
              <a:rPr lang="en-US" sz="1000" dirty="0">
                <a:solidFill>
                  <a:srgbClr val="6B7885"/>
                </a:solidFill>
                <a:latin typeface="Calibri" pitchFamily="34" charset="0"/>
                <a:ea typeface="Calibri" pitchFamily="34" charset="-122"/>
                <a:cs typeface="Calibri" pitchFamily="34" charset="-120"/>
              </a:rPr>
              <a:t>Source: INTERPOL, Disaster Victim Identification fact sheet (interpol.int)</a:t>
            </a:r>
            <a:endParaRPr lang="en-US" sz="1000" dirty="0"/>
          </a:p>
        </p:txBody>
      </p:sp>
      <p:sp>
        <p:nvSpPr>
          <p:cNvPr id="29" name="Text 23"/>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en-US" sz="1000" dirty="0">
                <a:solidFill>
                  <a:srgbClr val="6B7885"/>
                </a:solidFill>
                <a:latin typeface="Calibri" pitchFamily="34" charset="0"/>
                <a:ea typeface="Calibri" pitchFamily="34" charset="-122"/>
                <a:cs typeface="Calibri" pitchFamily="34" charset="-120"/>
              </a:rPr>
              <a:t>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childTnLst>
                          </p:cTn>
                        </p:par>
                        <p:par>
                          <p:cTn id="15" fill="hold">
                            <p:stCondLst>
                              <p:cond delay="900"/>
                            </p:stCondLst>
                            <p:childTnLst>
                              <p:par>
                                <p:cTn id="16" presetID="10"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childTnLst>
                          </p:cTn>
                        </p:par>
                        <p:par>
                          <p:cTn id="28" fill="hold">
                            <p:stCondLst>
                              <p:cond delay="1350"/>
                            </p:stCondLst>
                            <p:childTnLst>
                              <p:par>
                                <p:cTn id="29" presetID="10"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childTnLst>
                          </p:cTn>
                        </p:par>
                        <p:par>
                          <p:cTn id="77" fill="hold">
                            <p:stCondLst>
                              <p:cond delay="1800"/>
                            </p:stCondLst>
                            <p:childTnLst>
                              <p:par>
                                <p:cTn id="78" presetID="10" presetClass="entr" presetSubtype="0" fill="hold" nodeType="after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450"/>
                                        <p:tgtEl>
                                          <p:spTgt spid="10"/>
                                        </p:tgtEl>
                                      </p:cBhvr>
                                    </p:animEffect>
                                  </p:childTnLst>
                                </p:cTn>
                              </p:par>
                              <p:par>
                                <p:cTn id="81" presetID="10" presetClass="entr" presetSubtype="0" fill="hold" nodeType="with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fade">
                                      <p:cBhvr>
                                        <p:cTn id="83"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THE PROBLEM</a:t>
            </a:r>
            <a:endParaRPr lang="en-US" sz="1200" dirty="0"/>
          </a:p>
        </p:txBody>
      </p:sp>
      <p:sp>
        <p:nvSpPr>
          <p:cNvPr id="3" name="anim_00_38"/>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EEF1F4"/>
                </a:solidFill>
                <a:latin typeface="Arial" pitchFamily="34" charset="0"/>
                <a:ea typeface="Arial" pitchFamily="34" charset="-122"/>
                <a:cs typeface="Arial" pitchFamily="34" charset="-120"/>
              </a:rPr>
              <a:t>Paper and spreadsheets break under real pressure</a:t>
            </a:r>
            <a:endParaRPr lang="en-US" sz="3400" dirty="0"/>
          </a:p>
        </p:txBody>
      </p:sp>
      <p:sp>
        <p:nvSpPr>
          <p:cNvPr id="4" name="anim_01_39"/>
          <p:cNvSpPr/>
          <p:nvPr/>
        </p:nvSpPr>
        <p:spPr>
          <a:xfrm>
            <a:off x="548640" y="1371600"/>
            <a:ext cx="3931920" cy="4709160"/>
          </a:xfrm>
          <a:prstGeom prst="roundRect">
            <a:avLst>
              <a:gd name="adj" fmla="val 2326"/>
            </a:avLst>
          </a:prstGeom>
          <a:solidFill>
            <a:srgbClr val="17212B"/>
          </a:solidFill>
          <a:ln w="12700">
            <a:solidFill>
              <a:srgbClr val="2E3C4A"/>
            </a:solidFill>
            <a:prstDash val="solid"/>
          </a:ln>
        </p:spPr>
      </p:sp>
      <p:pic>
        <p:nvPicPr>
          <p:cNvPr id="5" name="anim_01_40" descr="preencoded.png"/>
          <p:cNvPicPr>
            <a:picLocks noChangeAspect="1"/>
          </p:cNvPicPr>
          <p:nvPr/>
        </p:nvPicPr>
        <p:blipFill>
          <a:blip r:embed="rId3"/>
          <a:stretch>
            <a:fillRect/>
          </a:stretch>
        </p:blipFill>
        <p:spPr>
          <a:xfrm>
            <a:off x="822960" y="1645920"/>
            <a:ext cx="329184" cy="329184"/>
          </a:xfrm>
          <a:prstGeom prst="rect">
            <a:avLst/>
          </a:prstGeom>
        </p:spPr>
      </p:pic>
      <p:sp>
        <p:nvSpPr>
          <p:cNvPr id="6" name="anim_01_41"/>
          <p:cNvSpPr txBox="1"/>
          <p:nvPr/>
        </p:nvSpPr>
        <p:spPr>
          <a:xfrm>
            <a:off x="1280160" y="1645920"/>
            <a:ext cx="3017520" cy="329184"/>
          </a:xfrm>
          <a:prstGeom prst="rect">
            <a:avLst/>
          </a:prstGeom>
          <a:noFill/>
          <a:ln/>
        </p:spPr>
        <p:txBody>
          <a:bodyPr wrap="square" lIns="0" tIns="0" rIns="0" bIns="0" rtlCol="0" anchor="ctr"/>
          <a:lstStyle/>
          <a:p>
            <a:pPr marL="0" indent="0">
              <a:buNone/>
            </a:pPr>
            <a:r>
              <a:rPr lang="en-US" sz="1200" b="1" kern="0" spc="200" dirty="0">
                <a:solidFill>
                  <a:srgbClr val="F5A524"/>
                </a:solidFill>
                <a:latin typeface="Calibri" pitchFamily="34" charset="0"/>
                <a:ea typeface="Calibri" pitchFamily="34" charset="-122"/>
                <a:cs typeface="Calibri" pitchFamily="34" charset="-120"/>
              </a:rPr>
              <a:t>BALASORE, ODISHA · JUNE 2023</a:t>
            </a:r>
            <a:endParaRPr lang="en-US" sz="1200" dirty="0"/>
          </a:p>
        </p:txBody>
      </p:sp>
      <p:sp>
        <p:nvSpPr>
          <p:cNvPr id="7" name="anim_01_42"/>
          <p:cNvSpPr txBox="1"/>
          <p:nvPr/>
        </p:nvSpPr>
        <p:spPr>
          <a:xfrm>
            <a:off x="822960" y="2103120"/>
            <a:ext cx="3474720" cy="868680"/>
          </a:xfrm>
          <a:prstGeom prst="rect">
            <a:avLst/>
          </a:prstGeom>
          <a:noFill/>
          <a:ln/>
        </p:spPr>
        <p:txBody>
          <a:bodyPr wrap="square" lIns="0" tIns="0" rIns="0" bIns="0" rtlCol="0" anchor="ctr"/>
          <a:lstStyle/>
          <a:p>
            <a:pPr marL="0" indent="0">
              <a:buNone/>
            </a:pPr>
            <a:r>
              <a:rPr lang="en-US" sz="6000" b="1" dirty="0">
                <a:solidFill>
                  <a:srgbClr val="EEF1F4"/>
                </a:solidFill>
                <a:latin typeface="Arial" pitchFamily="34" charset="0"/>
                <a:ea typeface="Arial" pitchFamily="34" charset="-122"/>
                <a:cs typeface="Arial" pitchFamily="34" charset="-120"/>
              </a:rPr>
              <a:t>296</a:t>
            </a:r>
            <a:endParaRPr lang="en-US" sz="6000" dirty="0"/>
          </a:p>
        </p:txBody>
      </p:sp>
      <p:sp>
        <p:nvSpPr>
          <p:cNvPr id="8" name="anim_01_43"/>
          <p:cNvSpPr txBox="1"/>
          <p:nvPr/>
        </p:nvSpPr>
        <p:spPr>
          <a:xfrm>
            <a:off x="822960" y="2971800"/>
            <a:ext cx="3474720" cy="320040"/>
          </a:xfrm>
          <a:prstGeom prst="rect">
            <a:avLst/>
          </a:prstGeom>
          <a:noFill/>
          <a:ln/>
        </p:spPr>
        <p:txBody>
          <a:bodyPr wrap="square" lIns="0" tIns="0" rIns="0" bIns="0" rtlCol="0" anchor="ctr"/>
          <a:lstStyle/>
          <a:p>
            <a:pPr marL="0" indent="0">
              <a:buNone/>
            </a:pPr>
            <a:r>
              <a:rPr lang="en-US" sz="1500" dirty="0">
                <a:solidFill>
                  <a:srgbClr val="9AA7B4"/>
                </a:solidFill>
                <a:latin typeface="Calibri" pitchFamily="34" charset="0"/>
                <a:ea typeface="Calibri" pitchFamily="34" charset="-122"/>
                <a:cs typeface="Calibri" pitchFamily="34" charset="-120"/>
              </a:rPr>
              <a:t>killed in a three-train collision</a:t>
            </a:r>
            <a:endParaRPr lang="en-US" sz="1500" dirty="0"/>
          </a:p>
        </p:txBody>
      </p:sp>
      <p:sp>
        <p:nvSpPr>
          <p:cNvPr id="9" name="anim_02_44"/>
          <p:cNvSpPr txBox="1"/>
          <p:nvPr/>
        </p:nvSpPr>
        <p:spPr>
          <a:xfrm>
            <a:off x="822960" y="3474720"/>
            <a:ext cx="342900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EF1F4"/>
                </a:solidFill>
                <a:latin typeface="Calibri" pitchFamily="34" charset="0"/>
                <a:ea typeface="Calibri" pitchFamily="34" charset="-122"/>
                <a:cs typeface="Calibri" pitchFamily="34" charset="-120"/>
              </a:rPr>
              <a:t>Burns and trauma ruled out visual ID</a:t>
            </a:r>
            <a:endParaRPr lang="en-US" sz="1400" dirty="0"/>
          </a:p>
          <a:p>
            <a:pPr marL="342900" indent="-342900">
              <a:spcAft>
                <a:spcPts val="800"/>
              </a:spcAft>
              <a:buSzPct val="100000"/>
              <a:buChar char="•"/>
            </a:pPr>
            <a:r>
              <a:rPr lang="en-US" sz="1400" dirty="0">
                <a:solidFill>
                  <a:srgbClr val="EEF1F4"/>
                </a:solidFill>
                <a:latin typeface="Calibri" pitchFamily="34" charset="0"/>
                <a:ea typeface="Calibri" pitchFamily="34" charset="-122"/>
                <a:cs typeface="Calibri" pitchFamily="34" charset="-120"/>
              </a:rPr>
              <a:t>Unreserved coaches: no passenger list to cross-check</a:t>
            </a:r>
            <a:endParaRPr lang="en-US" sz="1400" dirty="0"/>
          </a:p>
          <a:p>
            <a:pPr marL="342900" indent="-342900">
              <a:spcAft>
                <a:spcPts val="800"/>
              </a:spcAft>
              <a:buSzPct val="100000"/>
              <a:buChar char="•"/>
            </a:pPr>
            <a:r>
              <a:rPr lang="en-US" sz="1400" dirty="0">
                <a:solidFill>
                  <a:srgbClr val="EEF1F4"/>
                </a:solidFill>
                <a:latin typeface="Calibri" pitchFamily="34" charset="0"/>
                <a:ea typeface="Calibri" pitchFamily="34" charset="-122"/>
                <a:cs typeface="Calibri" pitchFamily="34" charset="-120"/>
              </a:rPr>
              <a:t>Belongings first, then a slow fall-back to DNA</a:t>
            </a:r>
            <a:endParaRPr lang="en-US" sz="1400" dirty="0"/>
          </a:p>
          <a:p>
            <a:pPr marL="342900" indent="-342900">
              <a:spcAft>
                <a:spcPts val="800"/>
              </a:spcAft>
              <a:buSzPct val="100000"/>
              <a:buChar char="•"/>
            </a:pPr>
            <a:r>
              <a:rPr lang="en-US" sz="1400" dirty="0">
                <a:solidFill>
                  <a:srgbClr val="EEF1F4"/>
                </a:solidFill>
                <a:latin typeface="Calibri" pitchFamily="34" charset="0"/>
                <a:ea typeface="Calibri" pitchFamily="34" charset="-122"/>
                <a:cs typeface="Calibri" pitchFamily="34" charset="-120"/>
              </a:rPr>
              <a:t>81 bodies still unidentified days later</a:t>
            </a:r>
            <a:endParaRPr lang="en-US" sz="1400" dirty="0"/>
          </a:p>
          <a:p>
            <a:pPr marL="342900" indent="-342900">
              <a:spcAft>
                <a:spcPts val="800"/>
              </a:spcAft>
              <a:buSzPct val="100000"/>
              <a:buChar char="•"/>
            </a:pPr>
            <a:r>
              <a:rPr lang="en-US" sz="1400" b="1" dirty="0">
                <a:solidFill>
                  <a:srgbClr val="F5A524"/>
                </a:solidFill>
                <a:latin typeface="Calibri" pitchFamily="34" charset="0"/>
                <a:ea typeface="Calibri" pitchFamily="34" charset="-122"/>
                <a:cs typeface="Calibri" pitchFamily="34" charset="-120"/>
              </a:rPr>
              <a:t>Bodies handed to the wrong families</a:t>
            </a:r>
            <a:endParaRPr lang="en-US" sz="1400" dirty="0"/>
          </a:p>
        </p:txBody>
      </p:sp>
      <p:sp>
        <p:nvSpPr>
          <p:cNvPr id="10" name="anim_03_45"/>
          <p:cNvSpPr/>
          <p:nvPr/>
        </p:nvSpPr>
        <p:spPr>
          <a:xfrm>
            <a:off x="4754880" y="1371600"/>
            <a:ext cx="3306928" cy="3246120"/>
          </a:xfrm>
          <a:prstGeom prst="roundRect">
            <a:avLst>
              <a:gd name="adj" fmla="val 2817"/>
            </a:avLst>
          </a:prstGeom>
          <a:solidFill>
            <a:srgbClr val="17212B"/>
          </a:solidFill>
          <a:ln w="12700">
            <a:solidFill>
              <a:srgbClr val="2E3C4A"/>
            </a:solidFill>
            <a:prstDash val="solid"/>
          </a:ln>
        </p:spPr>
      </p:sp>
      <p:sp>
        <p:nvSpPr>
          <p:cNvPr id="11" name="anim_03_46"/>
          <p:cNvSpPr/>
          <p:nvPr/>
        </p:nvSpPr>
        <p:spPr>
          <a:xfrm>
            <a:off x="5029200" y="1645920"/>
            <a:ext cx="548640" cy="548640"/>
          </a:xfrm>
          <a:prstGeom prst="ellipse">
            <a:avLst/>
          </a:prstGeom>
          <a:solidFill>
            <a:srgbClr val="1F2B37"/>
          </a:solidFill>
          <a:ln w="12700">
            <a:solidFill>
              <a:srgbClr val="2E3C4A"/>
            </a:solidFill>
            <a:prstDash val="solid"/>
          </a:ln>
        </p:spPr>
      </p:sp>
      <p:pic>
        <p:nvPicPr>
          <p:cNvPr id="12" name="anim_03_47" descr="preencoded.png"/>
          <p:cNvPicPr>
            <a:picLocks noChangeAspect="1"/>
          </p:cNvPicPr>
          <p:nvPr/>
        </p:nvPicPr>
        <p:blipFill>
          <a:blip r:embed="rId4"/>
          <a:stretch>
            <a:fillRect/>
          </a:stretch>
        </p:blipFill>
        <p:spPr>
          <a:xfrm>
            <a:off x="5171846" y="1788566"/>
            <a:ext cx="263347" cy="263347"/>
          </a:xfrm>
          <a:prstGeom prst="rect">
            <a:avLst/>
          </a:prstGeom>
        </p:spPr>
      </p:pic>
      <p:sp>
        <p:nvSpPr>
          <p:cNvPr id="13" name="anim_03_48"/>
          <p:cNvSpPr txBox="1"/>
          <p:nvPr/>
        </p:nvSpPr>
        <p:spPr>
          <a:xfrm>
            <a:off x="5715000" y="1645920"/>
            <a:ext cx="2163928" cy="54864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Paper Pink/Yellow forms</a:t>
            </a:r>
            <a:endParaRPr lang="en-US" sz="1700" dirty="0"/>
          </a:p>
        </p:txBody>
      </p:sp>
      <p:sp>
        <p:nvSpPr>
          <p:cNvPr id="14" name="anim_03_49"/>
          <p:cNvSpPr txBox="1"/>
          <p:nvPr/>
        </p:nvSpPr>
        <p:spPr>
          <a:xfrm>
            <a:off x="5029200" y="2423160"/>
            <a:ext cx="2804008"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Illegible handwriting</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Lost and duplicated forms</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No cross-referencing at scale</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Backlogs of days to weeks</a:t>
            </a:r>
            <a:endParaRPr lang="en-US" sz="1400" dirty="0"/>
          </a:p>
        </p:txBody>
      </p:sp>
      <p:sp>
        <p:nvSpPr>
          <p:cNvPr id="15" name="anim_04_50"/>
          <p:cNvSpPr/>
          <p:nvPr/>
        </p:nvSpPr>
        <p:spPr>
          <a:xfrm>
            <a:off x="8336128" y="1371600"/>
            <a:ext cx="3306928" cy="3246120"/>
          </a:xfrm>
          <a:prstGeom prst="roundRect">
            <a:avLst>
              <a:gd name="adj" fmla="val 2817"/>
            </a:avLst>
          </a:prstGeom>
          <a:solidFill>
            <a:srgbClr val="17212B"/>
          </a:solidFill>
          <a:ln w="12700">
            <a:solidFill>
              <a:srgbClr val="2E3C4A"/>
            </a:solidFill>
            <a:prstDash val="solid"/>
          </a:ln>
        </p:spPr>
      </p:sp>
      <p:sp>
        <p:nvSpPr>
          <p:cNvPr id="16" name="anim_04_51"/>
          <p:cNvSpPr/>
          <p:nvPr/>
        </p:nvSpPr>
        <p:spPr>
          <a:xfrm>
            <a:off x="8610448" y="1645920"/>
            <a:ext cx="548640" cy="548640"/>
          </a:xfrm>
          <a:prstGeom prst="ellipse">
            <a:avLst/>
          </a:prstGeom>
          <a:solidFill>
            <a:srgbClr val="1F2B37"/>
          </a:solidFill>
          <a:ln w="12700">
            <a:solidFill>
              <a:srgbClr val="2E3C4A"/>
            </a:solidFill>
            <a:prstDash val="solid"/>
          </a:ln>
        </p:spPr>
      </p:sp>
      <p:pic>
        <p:nvPicPr>
          <p:cNvPr id="17" name="anim_04_52" descr="preencoded.png"/>
          <p:cNvPicPr>
            <a:picLocks noChangeAspect="1"/>
          </p:cNvPicPr>
          <p:nvPr/>
        </p:nvPicPr>
        <p:blipFill>
          <a:blip r:embed="rId5"/>
          <a:stretch>
            <a:fillRect/>
          </a:stretch>
        </p:blipFill>
        <p:spPr>
          <a:xfrm>
            <a:off x="8753094" y="1788566"/>
            <a:ext cx="263347" cy="263347"/>
          </a:xfrm>
          <a:prstGeom prst="rect">
            <a:avLst/>
          </a:prstGeom>
        </p:spPr>
      </p:pic>
      <p:sp>
        <p:nvSpPr>
          <p:cNvPr id="18" name="anim_04_53"/>
          <p:cNvSpPr txBox="1"/>
          <p:nvPr/>
        </p:nvSpPr>
        <p:spPr>
          <a:xfrm>
            <a:off x="9296248" y="1645920"/>
            <a:ext cx="2163928" cy="54864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Ad hoc spreadsheets</a:t>
            </a:r>
            <a:endParaRPr lang="en-US" sz="1700" dirty="0"/>
          </a:p>
        </p:txBody>
      </p:sp>
      <p:sp>
        <p:nvSpPr>
          <p:cNvPr id="19" name="anim_04_54"/>
          <p:cNvSpPr txBox="1"/>
          <p:nvPr/>
        </p:nvSpPr>
        <p:spPr>
          <a:xfrm>
            <a:off x="8610448" y="2423160"/>
            <a:ext cx="2804008"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Filter, never rank: “male, 30–40” returns 30 rows</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No weighted scoring</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No fallback when DNA/dental/prints fail</a:t>
            </a:r>
            <a:endParaRPr lang="en-US" sz="1400" dirty="0"/>
          </a:p>
          <a:p>
            <a:pPr marL="342900" indent="-342900">
              <a:spcAft>
                <a:spcPts val="800"/>
              </a:spcAft>
              <a:buSzPct val="100000"/>
              <a:buChar char="•"/>
            </a:pPr>
            <a:r>
              <a:rPr lang="en-US" sz="1400" dirty="0">
                <a:solidFill>
                  <a:srgbClr val="9AA7B4"/>
                </a:solidFill>
                <a:latin typeface="Calibri" pitchFamily="34" charset="0"/>
                <a:ea typeface="Calibri" pitchFamily="34" charset="-122"/>
                <a:cs typeface="Calibri" pitchFamily="34" charset="-120"/>
              </a:rPr>
              <a:t>Not INTERPOL-shaped → double entry</a:t>
            </a:r>
            <a:endParaRPr lang="en-US" sz="1400" dirty="0"/>
          </a:p>
        </p:txBody>
      </p:sp>
      <p:sp>
        <p:nvSpPr>
          <p:cNvPr id="20" name="anim_05_55"/>
          <p:cNvSpPr/>
          <p:nvPr/>
        </p:nvSpPr>
        <p:spPr>
          <a:xfrm>
            <a:off x="4754880" y="4846320"/>
            <a:ext cx="6888175" cy="1234440"/>
          </a:xfrm>
          <a:prstGeom prst="roundRect">
            <a:avLst>
              <a:gd name="adj" fmla="val 7407"/>
            </a:avLst>
          </a:prstGeom>
          <a:solidFill>
            <a:srgbClr val="F5A524"/>
          </a:solidFill>
          <a:ln w="12700">
            <a:solidFill>
              <a:srgbClr val="F5A524"/>
            </a:solidFill>
            <a:prstDash val="solid"/>
          </a:ln>
        </p:spPr>
      </p:sp>
      <p:sp>
        <p:nvSpPr>
          <p:cNvPr id="21" name="anim_05_56"/>
          <p:cNvSpPr txBox="1"/>
          <p:nvPr/>
        </p:nvSpPr>
        <p:spPr>
          <a:xfrm>
            <a:off x="5029200" y="4846320"/>
            <a:ext cx="2194560" cy="1234440"/>
          </a:xfrm>
          <a:prstGeom prst="rect">
            <a:avLst/>
          </a:prstGeom>
          <a:noFill/>
          <a:ln/>
        </p:spPr>
        <p:txBody>
          <a:bodyPr wrap="square" lIns="0" tIns="0" rIns="0" bIns="0" rtlCol="0" anchor="ctr"/>
          <a:lstStyle/>
          <a:p>
            <a:pPr marL="0" indent="0">
              <a:buNone/>
            </a:pPr>
            <a:r>
              <a:rPr lang="en-US" sz="4000" b="1" dirty="0">
                <a:solidFill>
                  <a:srgbClr val="101418"/>
                </a:solidFill>
                <a:latin typeface="Arial" pitchFamily="34" charset="0"/>
                <a:ea typeface="Arial" pitchFamily="34" charset="-122"/>
                <a:cs typeface="Arial" pitchFamily="34" charset="-120"/>
              </a:rPr>
              <a:t>13,000</a:t>
            </a:r>
            <a:endParaRPr lang="en-US" sz="4000" dirty="0"/>
          </a:p>
        </p:txBody>
      </p:sp>
      <p:sp>
        <p:nvSpPr>
          <p:cNvPr id="22" name="anim_05_57"/>
          <p:cNvSpPr txBox="1"/>
          <p:nvPr/>
        </p:nvSpPr>
        <p:spPr>
          <a:xfrm>
            <a:off x="7269480" y="4846320"/>
            <a:ext cx="4144975" cy="1234440"/>
          </a:xfrm>
          <a:prstGeom prst="rect">
            <a:avLst/>
          </a:prstGeom>
          <a:noFill/>
          <a:ln/>
        </p:spPr>
        <p:txBody>
          <a:bodyPr wrap="square" lIns="0" tIns="0" rIns="0" bIns="0" rtlCol="0" anchor="ctr"/>
          <a:lstStyle/>
          <a:p>
            <a:pPr marL="0" indent="0">
              <a:buNone/>
            </a:pPr>
            <a:r>
              <a:rPr lang="en-US" sz="1500" dirty="0">
                <a:solidFill>
                  <a:srgbClr val="101418"/>
                </a:solidFill>
                <a:latin typeface="Calibri" pitchFamily="34" charset="0"/>
                <a:ea typeface="Calibri" pitchFamily="34" charset="-122"/>
                <a:cs typeface="Calibri" pitchFamily="34" charset="-120"/>
              </a:rPr>
              <a:t>pairwise comparisons for just 100 bodies × 130 missing-person reports — done by hand, by exhausted teams.</a:t>
            </a:r>
            <a:endParaRPr lang="en-US" sz="1500" dirty="0"/>
          </a:p>
        </p:txBody>
      </p:sp>
      <p:sp>
        <p:nvSpPr>
          <p:cNvPr id="23" name="Text 18"/>
          <p:cNvSpPr txBox="1"/>
          <p:nvPr/>
        </p:nvSpPr>
        <p:spPr>
          <a:xfrm>
            <a:off x="548640" y="6400800"/>
            <a:ext cx="9875520" cy="274320"/>
          </a:xfrm>
          <a:prstGeom prst="rect">
            <a:avLst/>
          </a:prstGeom>
          <a:noFill/>
          <a:ln/>
        </p:spPr>
        <p:txBody>
          <a:bodyPr wrap="square" lIns="0" tIns="0" rIns="0" bIns="0" rtlCol="0" anchor="ctr"/>
          <a:lstStyle/>
          <a:p>
            <a:pPr marL="0" indent="0">
              <a:buNone/>
            </a:pPr>
            <a:r>
              <a:rPr lang="en-US" sz="1000" dirty="0">
                <a:solidFill>
                  <a:srgbClr val="6B7885"/>
                </a:solidFill>
                <a:latin typeface="Calibri" pitchFamily="34" charset="0"/>
                <a:ea typeface="Calibri" pitchFamily="34" charset="-122"/>
                <a:cs typeface="Calibri" pitchFamily="34" charset="-120"/>
              </a:rPr>
              <a:t>Sources: Wikipedia, “2023 Odisha train collision”; ETV Bharat, “81 still unidentified despite DNA sampling”; National Herald, “29 of 81 bodies identified through DNA testing”</a:t>
            </a:r>
            <a:endParaRPr lang="en-US" sz="1000" dirty="0"/>
          </a:p>
        </p:txBody>
      </p:sp>
      <p:sp>
        <p:nvSpPr>
          <p:cNvPr id="24" name="Text 19"/>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en-US" sz="1000" dirty="0">
                <a:solidFill>
                  <a:srgbClr val="6B7885"/>
                </a:solidFill>
                <a:latin typeface="Calibri" pitchFamily="34" charset="0"/>
                <a:ea typeface="Calibri" pitchFamily="34" charset="-122"/>
                <a:cs typeface="Calibri"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9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childTnLst>
                          </p:cTn>
                        </p:par>
                        <p:par>
                          <p:cTn id="28" fill="hold">
                            <p:stCondLst>
                              <p:cond delay="135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childTnLst>
                          </p:cTn>
                        </p:par>
                        <p:par>
                          <p:cTn id="44" fill="hold">
                            <p:stCondLst>
                              <p:cond delay="1800"/>
                            </p:stCondLst>
                            <p:childTnLst>
                              <p:par>
                                <p:cTn id="45" presetID="10"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5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5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5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5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childTnLst>
                          </p:cTn>
                        </p:par>
                        <p:par>
                          <p:cTn id="60" fill="hold">
                            <p:stCondLst>
                              <p:cond delay="2250"/>
                            </p:stCondLst>
                            <p:childTnLst>
                              <p:par>
                                <p:cTn id="61" presetID="10"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childTnLst>
                                </p:cTn>
                              </p:par>
                              <p:par>
                                <p:cTn id="64" presetID="10" presetClass="entr" presetSubtype="0" fill="hold"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45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THE SOLUTION</a:t>
            </a:r>
            <a:endParaRPr lang="en-US" sz="1200" dirty="0"/>
          </a:p>
        </p:txBody>
      </p:sp>
      <p:sp>
        <p:nvSpPr>
          <p:cNvPr id="3" name="anim_00_58"/>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EEF1F4"/>
                </a:solidFill>
                <a:latin typeface="Arial" pitchFamily="34" charset="0"/>
                <a:ea typeface="Arial" pitchFamily="34" charset="-122"/>
                <a:cs typeface="Arial" pitchFamily="34" charset="-120"/>
              </a:rPr>
              <a:t>Forms in, ranked shortlist out</a:t>
            </a:r>
            <a:endParaRPr lang="en-US" sz="3400" dirty="0"/>
          </a:p>
        </p:txBody>
      </p:sp>
      <p:sp>
        <p:nvSpPr>
          <p:cNvPr id="4" name="anim_01_59"/>
          <p:cNvSpPr/>
          <p:nvPr/>
        </p:nvSpPr>
        <p:spPr>
          <a:xfrm>
            <a:off x="548640" y="1463040"/>
            <a:ext cx="1572768" cy="2331720"/>
          </a:xfrm>
          <a:prstGeom prst="roundRect">
            <a:avLst>
              <a:gd name="adj" fmla="val 5814"/>
            </a:avLst>
          </a:prstGeom>
          <a:solidFill>
            <a:srgbClr val="17212B"/>
          </a:solidFill>
          <a:ln w="12700">
            <a:solidFill>
              <a:srgbClr val="2E3C4A"/>
            </a:solidFill>
            <a:prstDash val="solid"/>
          </a:ln>
        </p:spPr>
      </p:sp>
      <p:sp>
        <p:nvSpPr>
          <p:cNvPr id="5" name="anim_01_60"/>
          <p:cNvSpPr/>
          <p:nvPr/>
        </p:nvSpPr>
        <p:spPr>
          <a:xfrm>
            <a:off x="1014984" y="1691640"/>
            <a:ext cx="640080" cy="640080"/>
          </a:xfrm>
          <a:prstGeom prst="ellipse">
            <a:avLst/>
          </a:prstGeom>
          <a:solidFill>
            <a:srgbClr val="1F2B37"/>
          </a:solidFill>
          <a:ln w="12700">
            <a:solidFill>
              <a:srgbClr val="2E3C4A"/>
            </a:solidFill>
            <a:prstDash val="solid"/>
          </a:ln>
        </p:spPr>
      </p:sp>
      <p:pic>
        <p:nvPicPr>
          <p:cNvPr id="6" name="anim_01_61" descr="preencoded.png"/>
          <p:cNvPicPr>
            <a:picLocks noChangeAspect="1"/>
          </p:cNvPicPr>
          <p:nvPr/>
        </p:nvPicPr>
        <p:blipFill>
          <a:blip r:embed="rId3"/>
          <a:stretch>
            <a:fillRect/>
          </a:stretch>
        </p:blipFill>
        <p:spPr>
          <a:xfrm>
            <a:off x="1181405" y="1858061"/>
            <a:ext cx="307238" cy="307238"/>
          </a:xfrm>
          <a:prstGeom prst="rect">
            <a:avLst/>
          </a:prstGeom>
        </p:spPr>
      </p:pic>
      <p:sp>
        <p:nvSpPr>
          <p:cNvPr id="7" name="anim_01_62"/>
          <p:cNvSpPr txBox="1"/>
          <p:nvPr/>
        </p:nvSpPr>
        <p:spPr>
          <a:xfrm>
            <a:off x="640080"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Field intake</a:t>
            </a:r>
            <a:endParaRPr lang="en-US" sz="1400" dirty="0"/>
          </a:p>
        </p:txBody>
      </p:sp>
      <p:sp>
        <p:nvSpPr>
          <p:cNvPr id="8" name="anim_01_63"/>
          <p:cNvSpPr txBox="1"/>
          <p:nvPr/>
        </p:nvSpPr>
        <p:spPr>
          <a:xfrm>
            <a:off x="658368"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Digital PM &amp; AM forms in INTERPOL layout</a:t>
            </a:r>
            <a:endParaRPr lang="en-US" sz="1200" dirty="0"/>
          </a:p>
        </p:txBody>
      </p:sp>
      <p:sp>
        <p:nvSpPr>
          <p:cNvPr id="9" name="anim_02_64"/>
          <p:cNvSpPr/>
          <p:nvPr/>
        </p:nvSpPr>
        <p:spPr>
          <a:xfrm>
            <a:off x="2176272" y="2519172"/>
            <a:ext cx="219456" cy="219456"/>
          </a:xfrm>
          <a:prstGeom prst="rightArrow">
            <a:avLst/>
          </a:prstGeom>
          <a:solidFill>
            <a:srgbClr val="F5A524"/>
          </a:solidFill>
          <a:ln w="12700">
            <a:solidFill>
              <a:srgbClr val="F5A524"/>
            </a:solidFill>
            <a:prstDash val="solid"/>
          </a:ln>
        </p:spPr>
      </p:sp>
      <p:sp>
        <p:nvSpPr>
          <p:cNvPr id="10" name="anim_02_65"/>
          <p:cNvSpPr/>
          <p:nvPr/>
        </p:nvSpPr>
        <p:spPr>
          <a:xfrm>
            <a:off x="2450592" y="1463040"/>
            <a:ext cx="1572768" cy="2331720"/>
          </a:xfrm>
          <a:prstGeom prst="roundRect">
            <a:avLst>
              <a:gd name="adj" fmla="val 5814"/>
            </a:avLst>
          </a:prstGeom>
          <a:solidFill>
            <a:srgbClr val="17212B"/>
          </a:solidFill>
          <a:ln w="12700">
            <a:solidFill>
              <a:srgbClr val="2E3C4A"/>
            </a:solidFill>
            <a:prstDash val="solid"/>
          </a:ln>
        </p:spPr>
      </p:sp>
      <p:sp>
        <p:nvSpPr>
          <p:cNvPr id="11" name="anim_02_66"/>
          <p:cNvSpPr/>
          <p:nvPr/>
        </p:nvSpPr>
        <p:spPr>
          <a:xfrm>
            <a:off x="2916936" y="1691640"/>
            <a:ext cx="640080" cy="640080"/>
          </a:xfrm>
          <a:prstGeom prst="ellipse">
            <a:avLst/>
          </a:prstGeom>
          <a:solidFill>
            <a:srgbClr val="1F2B37"/>
          </a:solidFill>
          <a:ln w="12700">
            <a:solidFill>
              <a:srgbClr val="2E3C4A"/>
            </a:solidFill>
            <a:prstDash val="solid"/>
          </a:ln>
        </p:spPr>
      </p:sp>
      <p:pic>
        <p:nvPicPr>
          <p:cNvPr id="12" name="anim_02_67" descr="preencoded.png"/>
          <p:cNvPicPr>
            <a:picLocks noChangeAspect="1"/>
          </p:cNvPicPr>
          <p:nvPr/>
        </p:nvPicPr>
        <p:blipFill>
          <a:blip r:embed="rId4"/>
          <a:stretch>
            <a:fillRect/>
          </a:stretch>
        </p:blipFill>
        <p:spPr>
          <a:xfrm>
            <a:off x="3083357" y="1858061"/>
            <a:ext cx="307238" cy="307238"/>
          </a:xfrm>
          <a:prstGeom prst="rect">
            <a:avLst/>
          </a:prstGeom>
        </p:spPr>
      </p:pic>
      <p:sp>
        <p:nvSpPr>
          <p:cNvPr id="13" name="anim_02_68"/>
          <p:cNvSpPr txBox="1"/>
          <p:nvPr/>
        </p:nvSpPr>
        <p:spPr>
          <a:xfrm>
            <a:off x="2542032"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Structured DB</a:t>
            </a:r>
            <a:endParaRPr lang="en-US" sz="1400" dirty="0"/>
          </a:p>
        </p:txBody>
      </p:sp>
      <p:sp>
        <p:nvSpPr>
          <p:cNvPr id="14" name="anim_02_69"/>
          <p:cNvSpPr txBox="1"/>
          <p:nvPr/>
        </p:nvSpPr>
        <p:spPr>
          <a:xfrm>
            <a:off x="2560320"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One schema; en / hi / mr text normalised</a:t>
            </a:r>
            <a:endParaRPr lang="en-US" sz="1200" dirty="0"/>
          </a:p>
        </p:txBody>
      </p:sp>
      <p:sp>
        <p:nvSpPr>
          <p:cNvPr id="15" name="anim_03_70"/>
          <p:cNvSpPr/>
          <p:nvPr/>
        </p:nvSpPr>
        <p:spPr>
          <a:xfrm>
            <a:off x="4078224" y="2519172"/>
            <a:ext cx="219456" cy="219456"/>
          </a:xfrm>
          <a:prstGeom prst="rightArrow">
            <a:avLst/>
          </a:prstGeom>
          <a:solidFill>
            <a:srgbClr val="F5A524"/>
          </a:solidFill>
          <a:ln w="12700">
            <a:solidFill>
              <a:srgbClr val="F5A524"/>
            </a:solidFill>
            <a:prstDash val="solid"/>
          </a:ln>
        </p:spPr>
      </p:sp>
      <p:sp>
        <p:nvSpPr>
          <p:cNvPr id="16" name="anim_03_71"/>
          <p:cNvSpPr/>
          <p:nvPr/>
        </p:nvSpPr>
        <p:spPr>
          <a:xfrm>
            <a:off x="4352544" y="1463040"/>
            <a:ext cx="1572768" cy="2331720"/>
          </a:xfrm>
          <a:prstGeom prst="roundRect">
            <a:avLst>
              <a:gd name="adj" fmla="val 5814"/>
            </a:avLst>
          </a:prstGeom>
          <a:solidFill>
            <a:srgbClr val="1F2B37"/>
          </a:solidFill>
          <a:ln w="22225">
            <a:solidFill>
              <a:srgbClr val="F5A524"/>
            </a:solidFill>
            <a:prstDash val="solid"/>
          </a:ln>
        </p:spPr>
      </p:sp>
      <p:sp>
        <p:nvSpPr>
          <p:cNvPr id="17" name="anim_03_72"/>
          <p:cNvSpPr/>
          <p:nvPr/>
        </p:nvSpPr>
        <p:spPr>
          <a:xfrm>
            <a:off x="4818888" y="1691640"/>
            <a:ext cx="640080" cy="640080"/>
          </a:xfrm>
          <a:prstGeom prst="ellipse">
            <a:avLst/>
          </a:prstGeom>
          <a:solidFill>
            <a:srgbClr val="F5A524"/>
          </a:solidFill>
          <a:ln w="12700">
            <a:solidFill>
              <a:srgbClr val="F5A524"/>
            </a:solidFill>
            <a:prstDash val="solid"/>
          </a:ln>
        </p:spPr>
      </p:sp>
      <p:pic>
        <p:nvPicPr>
          <p:cNvPr id="18" name="anim_03_73" descr="preencoded.png"/>
          <p:cNvPicPr>
            <a:picLocks noChangeAspect="1"/>
          </p:cNvPicPr>
          <p:nvPr/>
        </p:nvPicPr>
        <p:blipFill>
          <a:blip r:embed="rId5"/>
          <a:stretch>
            <a:fillRect/>
          </a:stretch>
        </p:blipFill>
        <p:spPr>
          <a:xfrm>
            <a:off x="4985309" y="1858061"/>
            <a:ext cx="307238" cy="307238"/>
          </a:xfrm>
          <a:prstGeom prst="rect">
            <a:avLst/>
          </a:prstGeom>
        </p:spPr>
      </p:pic>
      <p:sp>
        <p:nvSpPr>
          <p:cNvPr id="19" name="anim_03_74"/>
          <p:cNvSpPr txBox="1"/>
          <p:nvPr/>
        </p:nvSpPr>
        <p:spPr>
          <a:xfrm>
            <a:off x="4443984"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EvidenceScorer</a:t>
            </a:r>
            <a:endParaRPr lang="en-US" sz="1400" dirty="0"/>
          </a:p>
        </p:txBody>
      </p:sp>
      <p:sp>
        <p:nvSpPr>
          <p:cNvPr id="20" name="anim_03_75"/>
          <p:cNvSpPr txBox="1"/>
          <p:nvPr/>
        </p:nvSpPr>
        <p:spPr>
          <a:xfrm>
            <a:off x="4462272"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Every PM × every AM, 17 weighted categories</a:t>
            </a:r>
            <a:endParaRPr lang="en-US" sz="1200" dirty="0"/>
          </a:p>
        </p:txBody>
      </p:sp>
      <p:sp>
        <p:nvSpPr>
          <p:cNvPr id="21" name="anim_04_76"/>
          <p:cNvSpPr/>
          <p:nvPr/>
        </p:nvSpPr>
        <p:spPr>
          <a:xfrm>
            <a:off x="5980176" y="2519172"/>
            <a:ext cx="219456" cy="219456"/>
          </a:xfrm>
          <a:prstGeom prst="rightArrow">
            <a:avLst/>
          </a:prstGeom>
          <a:solidFill>
            <a:srgbClr val="F5A524"/>
          </a:solidFill>
          <a:ln w="12700">
            <a:solidFill>
              <a:srgbClr val="F5A524"/>
            </a:solidFill>
            <a:prstDash val="solid"/>
          </a:ln>
        </p:spPr>
      </p:sp>
      <p:sp>
        <p:nvSpPr>
          <p:cNvPr id="22" name="anim_04_77"/>
          <p:cNvSpPr/>
          <p:nvPr/>
        </p:nvSpPr>
        <p:spPr>
          <a:xfrm>
            <a:off x="6254496" y="1463040"/>
            <a:ext cx="1572768" cy="2331720"/>
          </a:xfrm>
          <a:prstGeom prst="roundRect">
            <a:avLst>
              <a:gd name="adj" fmla="val 5814"/>
            </a:avLst>
          </a:prstGeom>
          <a:solidFill>
            <a:srgbClr val="1F2B37"/>
          </a:solidFill>
          <a:ln w="22225">
            <a:solidFill>
              <a:srgbClr val="F5A524"/>
            </a:solidFill>
            <a:prstDash val="solid"/>
          </a:ln>
        </p:spPr>
      </p:sp>
      <p:sp>
        <p:nvSpPr>
          <p:cNvPr id="23" name="anim_04_78"/>
          <p:cNvSpPr/>
          <p:nvPr/>
        </p:nvSpPr>
        <p:spPr>
          <a:xfrm>
            <a:off x="6720840" y="1691640"/>
            <a:ext cx="640080" cy="640080"/>
          </a:xfrm>
          <a:prstGeom prst="ellipse">
            <a:avLst/>
          </a:prstGeom>
          <a:solidFill>
            <a:srgbClr val="F5A524"/>
          </a:solidFill>
          <a:ln w="12700">
            <a:solidFill>
              <a:srgbClr val="F5A524"/>
            </a:solidFill>
            <a:prstDash val="solid"/>
          </a:ln>
        </p:spPr>
      </p:sp>
      <p:pic>
        <p:nvPicPr>
          <p:cNvPr id="24" name="anim_04_79" descr="preencoded.png"/>
          <p:cNvPicPr>
            <a:picLocks noChangeAspect="1"/>
          </p:cNvPicPr>
          <p:nvPr/>
        </p:nvPicPr>
        <p:blipFill>
          <a:blip r:embed="rId6"/>
          <a:stretch>
            <a:fillRect/>
          </a:stretch>
        </p:blipFill>
        <p:spPr>
          <a:xfrm>
            <a:off x="6887261" y="1858061"/>
            <a:ext cx="307238" cy="307238"/>
          </a:xfrm>
          <a:prstGeom prst="rect">
            <a:avLst/>
          </a:prstGeom>
        </p:spPr>
      </p:pic>
      <p:sp>
        <p:nvSpPr>
          <p:cNvPr id="25" name="anim_04_80"/>
          <p:cNvSpPr txBox="1"/>
          <p:nvPr/>
        </p:nvSpPr>
        <p:spPr>
          <a:xfrm>
            <a:off x="6345936"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Confirmation Route</a:t>
            </a:r>
            <a:endParaRPr lang="en-US" sz="1400" dirty="0"/>
          </a:p>
        </p:txBody>
      </p:sp>
      <p:sp>
        <p:nvSpPr>
          <p:cNvPr id="26" name="anim_04_81"/>
          <p:cNvSpPr txBox="1"/>
          <p:nvPr/>
        </p:nvSpPr>
        <p:spPr>
          <a:xfrm>
            <a:off x="6364224"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Fastest viable test; falls back when primaries fail</a:t>
            </a:r>
            <a:endParaRPr lang="en-US" sz="1200" dirty="0"/>
          </a:p>
        </p:txBody>
      </p:sp>
      <p:sp>
        <p:nvSpPr>
          <p:cNvPr id="27" name="anim_05_82"/>
          <p:cNvSpPr/>
          <p:nvPr/>
        </p:nvSpPr>
        <p:spPr>
          <a:xfrm>
            <a:off x="7882128" y="2519172"/>
            <a:ext cx="219456" cy="219456"/>
          </a:xfrm>
          <a:prstGeom prst="rightArrow">
            <a:avLst/>
          </a:prstGeom>
          <a:solidFill>
            <a:srgbClr val="F5A524"/>
          </a:solidFill>
          <a:ln w="12700">
            <a:solidFill>
              <a:srgbClr val="F5A524"/>
            </a:solidFill>
            <a:prstDash val="solid"/>
          </a:ln>
        </p:spPr>
      </p:sp>
      <p:sp>
        <p:nvSpPr>
          <p:cNvPr id="28" name="anim_05_83"/>
          <p:cNvSpPr/>
          <p:nvPr/>
        </p:nvSpPr>
        <p:spPr>
          <a:xfrm>
            <a:off x="8156448" y="1463040"/>
            <a:ext cx="1572768" cy="2331720"/>
          </a:xfrm>
          <a:prstGeom prst="roundRect">
            <a:avLst>
              <a:gd name="adj" fmla="val 5814"/>
            </a:avLst>
          </a:prstGeom>
          <a:solidFill>
            <a:srgbClr val="17212B"/>
          </a:solidFill>
          <a:ln w="12700">
            <a:solidFill>
              <a:srgbClr val="2E3C4A"/>
            </a:solidFill>
            <a:prstDash val="solid"/>
          </a:ln>
        </p:spPr>
      </p:sp>
      <p:sp>
        <p:nvSpPr>
          <p:cNvPr id="29" name="anim_05_84"/>
          <p:cNvSpPr/>
          <p:nvPr/>
        </p:nvSpPr>
        <p:spPr>
          <a:xfrm>
            <a:off x="8622792" y="1691640"/>
            <a:ext cx="640080" cy="640080"/>
          </a:xfrm>
          <a:prstGeom prst="ellipse">
            <a:avLst/>
          </a:prstGeom>
          <a:solidFill>
            <a:srgbClr val="1F2B37"/>
          </a:solidFill>
          <a:ln w="12700">
            <a:solidFill>
              <a:srgbClr val="2E3C4A"/>
            </a:solidFill>
            <a:prstDash val="solid"/>
          </a:ln>
        </p:spPr>
      </p:sp>
      <p:pic>
        <p:nvPicPr>
          <p:cNvPr id="30" name="anim_05_85" descr="preencoded.png"/>
          <p:cNvPicPr>
            <a:picLocks noChangeAspect="1"/>
          </p:cNvPicPr>
          <p:nvPr/>
        </p:nvPicPr>
        <p:blipFill>
          <a:blip r:embed="rId7"/>
          <a:stretch>
            <a:fillRect/>
          </a:stretch>
        </p:blipFill>
        <p:spPr>
          <a:xfrm>
            <a:off x="8789213" y="1858061"/>
            <a:ext cx="307238" cy="307238"/>
          </a:xfrm>
          <a:prstGeom prst="rect">
            <a:avLst/>
          </a:prstGeom>
        </p:spPr>
      </p:pic>
      <p:sp>
        <p:nvSpPr>
          <p:cNvPr id="31" name="anim_05_86"/>
          <p:cNvSpPr txBox="1"/>
          <p:nvPr/>
        </p:nvSpPr>
        <p:spPr>
          <a:xfrm>
            <a:off x="8247888"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Ranked candidates</a:t>
            </a:r>
            <a:endParaRPr lang="en-US" sz="1400" dirty="0"/>
          </a:p>
        </p:txBody>
      </p:sp>
      <p:sp>
        <p:nvSpPr>
          <p:cNvPr id="32" name="anim_05_87"/>
          <p:cNvSpPr txBox="1"/>
          <p:nvPr/>
        </p:nvSpPr>
        <p:spPr>
          <a:xfrm>
            <a:off x="8266176"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Top matches per body, reasoning shown</a:t>
            </a:r>
            <a:endParaRPr lang="en-US" sz="1200" dirty="0"/>
          </a:p>
        </p:txBody>
      </p:sp>
      <p:sp>
        <p:nvSpPr>
          <p:cNvPr id="33" name="anim_06_88"/>
          <p:cNvSpPr/>
          <p:nvPr/>
        </p:nvSpPr>
        <p:spPr>
          <a:xfrm>
            <a:off x="9784080" y="2519172"/>
            <a:ext cx="219456" cy="219456"/>
          </a:xfrm>
          <a:prstGeom prst="rightArrow">
            <a:avLst/>
          </a:prstGeom>
          <a:solidFill>
            <a:srgbClr val="F5A524"/>
          </a:solidFill>
          <a:ln w="12700">
            <a:solidFill>
              <a:srgbClr val="F5A524"/>
            </a:solidFill>
            <a:prstDash val="solid"/>
          </a:ln>
        </p:spPr>
      </p:sp>
      <p:sp>
        <p:nvSpPr>
          <p:cNvPr id="34" name="anim_06_89"/>
          <p:cNvSpPr/>
          <p:nvPr/>
        </p:nvSpPr>
        <p:spPr>
          <a:xfrm>
            <a:off x="10058400" y="1463040"/>
            <a:ext cx="1572768" cy="2331720"/>
          </a:xfrm>
          <a:prstGeom prst="roundRect">
            <a:avLst>
              <a:gd name="adj" fmla="val 5814"/>
            </a:avLst>
          </a:prstGeom>
          <a:solidFill>
            <a:srgbClr val="17212B"/>
          </a:solidFill>
          <a:ln w="12700">
            <a:solidFill>
              <a:srgbClr val="2E3C4A"/>
            </a:solidFill>
            <a:prstDash val="solid"/>
          </a:ln>
        </p:spPr>
      </p:sp>
      <p:sp>
        <p:nvSpPr>
          <p:cNvPr id="35" name="anim_06_90"/>
          <p:cNvSpPr/>
          <p:nvPr/>
        </p:nvSpPr>
        <p:spPr>
          <a:xfrm>
            <a:off x="10524744" y="1691640"/>
            <a:ext cx="640080" cy="640080"/>
          </a:xfrm>
          <a:prstGeom prst="ellipse">
            <a:avLst/>
          </a:prstGeom>
          <a:solidFill>
            <a:srgbClr val="1F2B37"/>
          </a:solidFill>
          <a:ln w="12700">
            <a:solidFill>
              <a:srgbClr val="2E3C4A"/>
            </a:solidFill>
            <a:prstDash val="solid"/>
          </a:ln>
        </p:spPr>
      </p:sp>
      <p:pic>
        <p:nvPicPr>
          <p:cNvPr id="36" name="anim_06_91" descr="preencoded.png"/>
          <p:cNvPicPr>
            <a:picLocks noChangeAspect="1"/>
          </p:cNvPicPr>
          <p:nvPr/>
        </p:nvPicPr>
        <p:blipFill>
          <a:blip r:embed="rId8"/>
          <a:stretch>
            <a:fillRect/>
          </a:stretch>
        </p:blipFill>
        <p:spPr>
          <a:xfrm>
            <a:off x="10691165" y="1858061"/>
            <a:ext cx="307238" cy="307238"/>
          </a:xfrm>
          <a:prstGeom prst="rect">
            <a:avLst/>
          </a:prstGeom>
        </p:spPr>
      </p:pic>
      <p:sp>
        <p:nvSpPr>
          <p:cNvPr id="37" name="anim_06_92"/>
          <p:cNvSpPr txBox="1"/>
          <p:nvPr/>
        </p:nvSpPr>
        <p:spPr>
          <a:xfrm>
            <a:off x="10149840" y="2423160"/>
            <a:ext cx="1389888" cy="457200"/>
          </a:xfrm>
          <a:prstGeom prst="rect">
            <a:avLst/>
          </a:prstGeom>
          <a:noFill/>
          <a:ln/>
        </p:spPr>
        <p:txBody>
          <a:bodyPr wrap="square" lIns="0" tIns="0" rIns="0" bIns="0" rtlCol="0" anchor="ctr"/>
          <a:lstStyle/>
          <a:p>
            <a:pPr marL="0" indent="0" algn="ctr">
              <a:buNone/>
            </a:pPr>
            <a:r>
              <a:rPr lang="en-US" sz="1400" b="1" dirty="0">
                <a:solidFill>
                  <a:srgbClr val="EEF1F4"/>
                </a:solidFill>
                <a:latin typeface="Arial" pitchFamily="34" charset="0"/>
                <a:ea typeface="Arial" pitchFamily="34" charset="-122"/>
                <a:cs typeface="Arial" pitchFamily="34" charset="-120"/>
              </a:rPr>
              <a:t>Human confirmation</a:t>
            </a:r>
            <a:endParaRPr lang="en-US" sz="1400" dirty="0"/>
          </a:p>
        </p:txBody>
      </p:sp>
      <p:sp>
        <p:nvSpPr>
          <p:cNvPr id="38" name="anim_06_93"/>
          <p:cNvSpPr txBox="1"/>
          <p:nvPr/>
        </p:nvSpPr>
        <p:spPr>
          <a:xfrm>
            <a:off x="10168128" y="2880360"/>
            <a:ext cx="1353312" cy="822960"/>
          </a:xfrm>
          <a:prstGeom prst="rect">
            <a:avLst/>
          </a:prstGeom>
          <a:noFill/>
          <a:ln/>
        </p:spPr>
        <p:txBody>
          <a:bodyPr wrap="square" lIns="0" tIns="0" rIns="0" bIns="0" rtlCol="0" anchor="t"/>
          <a:lstStyle/>
          <a:p>
            <a:pPr marL="0" indent="0" algn="ctr">
              <a:buNone/>
            </a:pPr>
            <a:r>
              <a:rPr lang="en-US" sz="1200" dirty="0">
                <a:solidFill>
                  <a:srgbClr val="9AA7B4"/>
                </a:solidFill>
                <a:latin typeface="Calibri" pitchFamily="34" charset="0"/>
                <a:ea typeface="Calibri" pitchFamily="34" charset="-122"/>
                <a:cs typeface="Calibri" pitchFamily="34" charset="-120"/>
              </a:rPr>
              <a:t>Examiner decides; audit trail kept</a:t>
            </a:r>
            <a:endParaRPr lang="en-US" sz="1200" dirty="0"/>
          </a:p>
        </p:txBody>
      </p:sp>
      <p:sp>
        <p:nvSpPr>
          <p:cNvPr id="39" name="anim_08_94"/>
          <p:cNvSpPr txBox="1"/>
          <p:nvPr/>
        </p:nvSpPr>
        <p:spPr>
          <a:xfrm>
            <a:off x="548640" y="4114800"/>
            <a:ext cx="5486400" cy="365760"/>
          </a:xfrm>
          <a:prstGeom prst="rect">
            <a:avLst/>
          </a:prstGeom>
          <a:noFill/>
          <a:ln/>
        </p:spPr>
        <p:txBody>
          <a:bodyPr wrap="square" lIns="0" tIns="0" rIns="0" bIns="0" rtlCol="0" anchor="ctr"/>
          <a:lstStyle/>
          <a:p>
            <a:pPr marL="0" indent="0">
              <a:buNone/>
            </a:pPr>
            <a:r>
              <a:rPr lang="en-US" sz="1600" b="1" dirty="0">
                <a:solidFill>
                  <a:srgbClr val="EEF1F4"/>
                </a:solidFill>
                <a:latin typeface="Arial" pitchFamily="34" charset="0"/>
                <a:ea typeface="Arial" pitchFamily="34" charset="-122"/>
                <a:cs typeface="Arial" pitchFamily="34" charset="-120"/>
              </a:rPr>
              <a:t>How evidence is weighed</a:t>
            </a:r>
            <a:endParaRPr lang="en-US" sz="1600" dirty="0"/>
          </a:p>
        </p:txBody>
      </p:sp>
      <p:sp>
        <p:nvSpPr>
          <p:cNvPr id="40" name="anim_09_95"/>
          <p:cNvSpPr/>
          <p:nvPr/>
        </p:nvSpPr>
        <p:spPr>
          <a:xfrm>
            <a:off x="548640" y="4572000"/>
            <a:ext cx="3515258" cy="1188720"/>
          </a:xfrm>
          <a:prstGeom prst="roundRect">
            <a:avLst>
              <a:gd name="adj" fmla="val 6154"/>
            </a:avLst>
          </a:prstGeom>
          <a:solidFill>
            <a:srgbClr val="17212B"/>
          </a:solidFill>
          <a:ln w="12700">
            <a:solidFill>
              <a:srgbClr val="F5A524"/>
            </a:solidFill>
            <a:prstDash val="solid"/>
          </a:ln>
        </p:spPr>
      </p:sp>
      <p:sp>
        <p:nvSpPr>
          <p:cNvPr id="41" name="anim_09_96"/>
          <p:cNvSpPr txBox="1"/>
          <p:nvPr/>
        </p:nvSpPr>
        <p:spPr>
          <a:xfrm>
            <a:off x="777240" y="4681728"/>
            <a:ext cx="3058058" cy="320040"/>
          </a:xfrm>
          <a:prstGeom prst="rect">
            <a:avLst/>
          </a:prstGeom>
          <a:noFill/>
          <a:ln/>
        </p:spPr>
        <p:txBody>
          <a:bodyPr wrap="square" lIns="0" tIns="0" rIns="0" bIns="0" rtlCol="0" anchor="ctr"/>
          <a:lstStyle/>
          <a:p>
            <a:pPr marL="0" indent="0">
              <a:buNone/>
            </a:pPr>
            <a:r>
              <a:rPr lang="en-US" sz="1200" b="1" kern="0" spc="200" dirty="0">
                <a:solidFill>
                  <a:srgbClr val="F5A524"/>
                </a:solidFill>
                <a:latin typeface="Calibri" pitchFamily="34" charset="0"/>
                <a:ea typeface="Calibri" pitchFamily="34" charset="-122"/>
                <a:cs typeface="Calibri" pitchFamily="34" charset="-120"/>
              </a:rPr>
              <a:t>TIER A · PRIMARY</a:t>
            </a:r>
            <a:endParaRPr lang="en-US" sz="1200" dirty="0"/>
          </a:p>
        </p:txBody>
      </p:sp>
      <p:sp>
        <p:nvSpPr>
          <p:cNvPr id="42" name="anim_09_97"/>
          <p:cNvSpPr txBox="1"/>
          <p:nvPr/>
        </p:nvSpPr>
        <p:spPr>
          <a:xfrm>
            <a:off x="777240" y="5029200"/>
            <a:ext cx="3058058" cy="658368"/>
          </a:xfrm>
          <a:prstGeom prst="rect">
            <a:avLst/>
          </a:prstGeom>
          <a:noFill/>
          <a:ln/>
        </p:spPr>
        <p:txBody>
          <a:bodyPr wrap="square" lIns="0" tIns="0" rIns="0" bIns="0" rtlCol="0" anchor="t"/>
          <a:lstStyle/>
          <a:p>
            <a:pPr marL="0" indent="0">
              <a:buNone/>
            </a:pPr>
            <a:r>
              <a:rPr lang="en-US" sz="1400" dirty="0">
                <a:solidFill>
                  <a:srgbClr val="EEF1F4"/>
                </a:solidFill>
                <a:latin typeface="Calibri" pitchFamily="34" charset="0"/>
                <a:ea typeface="Calibri" pitchFamily="34" charset="-122"/>
                <a:cs typeface="Calibri" pitchFamily="34" charset="-120"/>
              </a:rPr>
              <a:t>Dental chart  +9</a:t>
            </a:r>
            <a:endParaRPr lang="en-US" sz="1400" dirty="0"/>
          </a:p>
          <a:p>
            <a:pPr marL="0" indent="0">
              <a:buNone/>
            </a:pPr>
            <a:r>
              <a:rPr lang="en-US" sz="1400" dirty="0">
                <a:solidFill>
                  <a:srgbClr val="EEF1F4"/>
                </a:solidFill>
                <a:latin typeface="Calibri" pitchFamily="34" charset="0"/>
                <a:ea typeface="Calibri" pitchFamily="34" charset="-122"/>
                <a:cs typeface="Calibri" pitchFamily="34" charset="-120"/>
              </a:rPr>
              <a:t>Implant serial  +8</a:t>
            </a:r>
            <a:endParaRPr lang="en-US" sz="1400" dirty="0"/>
          </a:p>
        </p:txBody>
      </p:sp>
      <p:sp>
        <p:nvSpPr>
          <p:cNvPr id="43" name="anim_09_98"/>
          <p:cNvSpPr/>
          <p:nvPr/>
        </p:nvSpPr>
        <p:spPr>
          <a:xfrm>
            <a:off x="4338218" y="4572000"/>
            <a:ext cx="3515258" cy="1188720"/>
          </a:xfrm>
          <a:prstGeom prst="roundRect">
            <a:avLst>
              <a:gd name="adj" fmla="val 6154"/>
            </a:avLst>
          </a:prstGeom>
          <a:solidFill>
            <a:srgbClr val="17212B"/>
          </a:solidFill>
          <a:ln w="12700">
            <a:solidFill>
              <a:srgbClr val="2E3C4A"/>
            </a:solidFill>
            <a:prstDash val="solid"/>
          </a:ln>
        </p:spPr>
      </p:sp>
      <p:sp>
        <p:nvSpPr>
          <p:cNvPr id="44" name="anim_09_99"/>
          <p:cNvSpPr txBox="1"/>
          <p:nvPr/>
        </p:nvSpPr>
        <p:spPr>
          <a:xfrm>
            <a:off x="4566818" y="4681728"/>
            <a:ext cx="3058058" cy="320040"/>
          </a:xfrm>
          <a:prstGeom prst="rect">
            <a:avLst/>
          </a:prstGeom>
          <a:noFill/>
          <a:ln/>
        </p:spPr>
        <p:txBody>
          <a:bodyPr wrap="square" lIns="0" tIns="0" rIns="0" bIns="0" rtlCol="0" anchor="ctr"/>
          <a:lstStyle/>
          <a:p>
            <a:pPr marL="0" indent="0">
              <a:buNone/>
            </a:pPr>
            <a:r>
              <a:rPr lang="en-US" sz="1200" b="1" kern="0" spc="200" dirty="0">
                <a:solidFill>
                  <a:srgbClr val="EEF1F4"/>
                </a:solidFill>
                <a:latin typeface="Calibri" pitchFamily="34" charset="0"/>
                <a:ea typeface="Calibri" pitchFamily="34" charset="-122"/>
                <a:cs typeface="Calibri" pitchFamily="34" charset="-120"/>
              </a:rPr>
              <a:t>TIER B · STRONG SECONDARY</a:t>
            </a:r>
            <a:endParaRPr lang="en-US" sz="1200" dirty="0"/>
          </a:p>
        </p:txBody>
      </p:sp>
      <p:sp>
        <p:nvSpPr>
          <p:cNvPr id="45" name="anim_09_100"/>
          <p:cNvSpPr txBox="1"/>
          <p:nvPr/>
        </p:nvSpPr>
        <p:spPr>
          <a:xfrm>
            <a:off x="4566818" y="5029200"/>
            <a:ext cx="3058058" cy="658368"/>
          </a:xfrm>
          <a:prstGeom prst="rect">
            <a:avLst/>
          </a:prstGeom>
          <a:noFill/>
          <a:ln/>
        </p:spPr>
        <p:txBody>
          <a:bodyPr wrap="square" lIns="0" tIns="0" rIns="0" bIns="0" rtlCol="0" anchor="t"/>
          <a:lstStyle/>
          <a:p>
            <a:pPr marL="0" indent="0">
              <a:buNone/>
            </a:pPr>
            <a:r>
              <a:rPr lang="en-US" sz="1400" dirty="0">
                <a:solidFill>
                  <a:srgbClr val="EEF1F4"/>
                </a:solidFill>
                <a:latin typeface="Calibri" pitchFamily="34" charset="0"/>
                <a:ea typeface="Calibri" pitchFamily="34" charset="-122"/>
                <a:cs typeface="Calibri" pitchFamily="34" charset="-120"/>
              </a:rPr>
              <a:t>Tattoo  +3.4 · Implant type  +3.2</a:t>
            </a:r>
            <a:endParaRPr lang="en-US" sz="1400" dirty="0"/>
          </a:p>
          <a:p>
            <a:pPr marL="0" indent="0">
              <a:buNone/>
            </a:pPr>
            <a:r>
              <a:rPr lang="en-US" sz="1400" dirty="0">
                <a:solidFill>
                  <a:srgbClr val="EEF1F4"/>
                </a:solidFill>
                <a:latin typeface="Calibri" pitchFamily="34" charset="0"/>
                <a:ea typeface="Calibri" pitchFamily="34" charset="-122"/>
                <a:cs typeface="Calibri" pitchFamily="34" charset="-120"/>
              </a:rPr>
              <a:t>Mark with side  +2.0</a:t>
            </a:r>
            <a:endParaRPr lang="en-US" sz="1400" dirty="0"/>
          </a:p>
        </p:txBody>
      </p:sp>
      <p:sp>
        <p:nvSpPr>
          <p:cNvPr id="46" name="anim_09_101"/>
          <p:cNvSpPr/>
          <p:nvPr/>
        </p:nvSpPr>
        <p:spPr>
          <a:xfrm>
            <a:off x="8127797" y="4572000"/>
            <a:ext cx="3515258" cy="1188720"/>
          </a:xfrm>
          <a:prstGeom prst="roundRect">
            <a:avLst>
              <a:gd name="adj" fmla="val 6154"/>
            </a:avLst>
          </a:prstGeom>
          <a:solidFill>
            <a:srgbClr val="17212B"/>
          </a:solidFill>
          <a:ln w="12700">
            <a:solidFill>
              <a:srgbClr val="2E3C4A"/>
            </a:solidFill>
            <a:prstDash val="solid"/>
          </a:ln>
        </p:spPr>
      </p:sp>
      <p:sp>
        <p:nvSpPr>
          <p:cNvPr id="47" name="anim_09_102"/>
          <p:cNvSpPr txBox="1"/>
          <p:nvPr/>
        </p:nvSpPr>
        <p:spPr>
          <a:xfrm>
            <a:off x="8356397" y="4681728"/>
            <a:ext cx="3058058" cy="320040"/>
          </a:xfrm>
          <a:prstGeom prst="rect">
            <a:avLst/>
          </a:prstGeom>
          <a:noFill/>
          <a:ln/>
        </p:spPr>
        <p:txBody>
          <a:bodyPr wrap="square" lIns="0" tIns="0" rIns="0" bIns="0" rtlCol="0" anchor="ctr"/>
          <a:lstStyle/>
          <a:p>
            <a:pPr marL="0" indent="0">
              <a:buNone/>
            </a:pPr>
            <a:r>
              <a:rPr lang="en-US" sz="1200" b="1" kern="0" spc="200" dirty="0">
                <a:solidFill>
                  <a:srgbClr val="9AA7B4"/>
                </a:solidFill>
                <a:latin typeface="Calibri" pitchFamily="34" charset="0"/>
                <a:ea typeface="Calibri" pitchFamily="34" charset="-122"/>
                <a:cs typeface="Calibri" pitchFamily="34" charset="-120"/>
              </a:rPr>
              <a:t>TIER C · SUPPORTIVE (DAMPED)</a:t>
            </a:r>
            <a:endParaRPr lang="en-US" sz="1200" dirty="0"/>
          </a:p>
        </p:txBody>
      </p:sp>
      <p:sp>
        <p:nvSpPr>
          <p:cNvPr id="48" name="anim_09_103"/>
          <p:cNvSpPr txBox="1"/>
          <p:nvPr/>
        </p:nvSpPr>
        <p:spPr>
          <a:xfrm>
            <a:off x="8356397" y="5029200"/>
            <a:ext cx="3058058" cy="658368"/>
          </a:xfrm>
          <a:prstGeom prst="rect">
            <a:avLst/>
          </a:prstGeom>
          <a:noFill/>
          <a:ln/>
        </p:spPr>
        <p:txBody>
          <a:bodyPr wrap="square" lIns="0" tIns="0" rIns="0" bIns="0" rtlCol="0" anchor="t"/>
          <a:lstStyle/>
          <a:p>
            <a:pPr marL="0" indent="0">
              <a:buNone/>
            </a:pPr>
            <a:r>
              <a:rPr lang="en-US" sz="1400" dirty="0">
                <a:solidFill>
                  <a:srgbClr val="EEF1F4"/>
                </a:solidFill>
                <a:latin typeface="Calibri" pitchFamily="34" charset="0"/>
                <a:ea typeface="Calibri" pitchFamily="34" charset="-122"/>
                <a:cs typeface="Calibri" pitchFamily="34" charset="-120"/>
              </a:rPr>
              <a:t>Clothing, jewellery, build, hair,</a:t>
            </a:r>
            <a:endParaRPr lang="en-US" sz="1400" dirty="0"/>
          </a:p>
          <a:p>
            <a:pPr marL="0" indent="0">
              <a:buNone/>
            </a:pPr>
            <a:r>
              <a:rPr lang="en-US" sz="1400" dirty="0">
                <a:solidFill>
                  <a:srgbClr val="EEF1F4"/>
                </a:solidFill>
                <a:latin typeface="Calibri" pitchFamily="34" charset="0"/>
                <a:ea typeface="Calibri" pitchFamily="34" charset="-122"/>
                <a:cs typeface="Calibri" pitchFamily="34" charset="-120"/>
              </a:rPr>
              <a:t>eyes, sex, age, height …</a:t>
            </a:r>
            <a:endParaRPr lang="en-US" sz="1400" dirty="0"/>
          </a:p>
        </p:txBody>
      </p:sp>
      <p:sp>
        <p:nvSpPr>
          <p:cNvPr id="49" name="anim_10_104"/>
          <p:cNvSpPr txBox="1"/>
          <p:nvPr/>
        </p:nvSpPr>
        <p:spPr>
          <a:xfrm>
            <a:off x="548640" y="5943600"/>
            <a:ext cx="11094415" cy="320040"/>
          </a:xfrm>
          <a:prstGeom prst="rect">
            <a:avLst/>
          </a:prstGeom>
          <a:noFill/>
          <a:ln/>
        </p:spPr>
        <p:txBody>
          <a:bodyPr wrap="square" lIns="0" tIns="0" rIns="0" bIns="0" rtlCol="0" anchor="ctr"/>
          <a:lstStyle/>
          <a:p>
            <a:pPr marL="0" indent="0">
              <a:buNone/>
            </a:pPr>
            <a:r>
              <a:rPr lang="en-US" sz="1400" i="1" dirty="0">
                <a:solidFill>
                  <a:srgbClr val="F5A524"/>
                </a:solidFill>
                <a:latin typeface="Calibri" pitchFamily="34" charset="0"/>
                <a:ea typeface="Calibri" pitchFamily="34" charset="-122"/>
                <a:cs typeface="Calibri" pitchFamily="34" charset="-120"/>
              </a:rPr>
              <a:t>Missing or unassessable evidence scores zero — silence is not disagreement.</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9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childTnLst>
                                </p:cTn>
                              </p:par>
                            </p:childTnLst>
                          </p:cTn>
                        </p:par>
                        <p:par>
                          <p:cTn id="43" fill="hold">
                            <p:stCondLst>
                              <p:cond delay="1350"/>
                            </p:stCondLst>
                            <p:childTnLst>
                              <p:par>
                                <p:cTn id="44" presetID="10" presetClass="entr" presetSubtype="0" fill="hold"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childTnLst>
                          </p:cTn>
                        </p:par>
                        <p:par>
                          <p:cTn id="62" fill="hold">
                            <p:stCondLst>
                              <p:cond delay="1800"/>
                            </p:stCondLst>
                            <p:childTnLst>
                              <p:par>
                                <p:cTn id="63" presetID="10" presetClass="entr" presetSubtype="0" fill="hold"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5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5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50"/>
                                        <p:tgtEl>
                                          <p:spTgt spid="26"/>
                                        </p:tgtEl>
                                      </p:cBhvr>
                                    </p:animEffect>
                                  </p:childTnLst>
                                </p:cTn>
                              </p:par>
                            </p:childTnLst>
                          </p:cTn>
                        </p:par>
                        <p:par>
                          <p:cTn id="81" fill="hold">
                            <p:stCondLst>
                              <p:cond delay="2250"/>
                            </p:stCondLst>
                            <p:childTnLst>
                              <p:par>
                                <p:cTn id="82" presetID="10" presetClass="entr" presetSubtype="0" fill="hold"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50"/>
                                        <p:tgtEl>
                                          <p:spTgt spid="27"/>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45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450"/>
                                        <p:tgtEl>
                                          <p:spTgt spid="29"/>
                                        </p:tgtEl>
                                      </p:cBhvr>
                                    </p:animEffect>
                                  </p:childTnLst>
                                </p:cTn>
                              </p:par>
                              <p:par>
                                <p:cTn id="91" presetID="10"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450"/>
                                        <p:tgtEl>
                                          <p:spTgt spid="30"/>
                                        </p:tgtEl>
                                      </p:cBhvr>
                                    </p:animEffect>
                                  </p:childTnLst>
                                </p:cTn>
                              </p:par>
                              <p:par>
                                <p:cTn id="94" presetID="10" presetClass="entr" presetSubtype="0"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450"/>
                                        <p:tgtEl>
                                          <p:spTgt spid="31"/>
                                        </p:tgtEl>
                                      </p:cBhvr>
                                    </p:animEffect>
                                  </p:childTnLst>
                                </p:cTn>
                              </p:par>
                              <p:par>
                                <p:cTn id="97" presetID="10" presetClass="entr" presetSubtype="0" fill="hold"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450"/>
                                        <p:tgtEl>
                                          <p:spTgt spid="32"/>
                                        </p:tgtEl>
                                      </p:cBhvr>
                                    </p:animEffect>
                                  </p:childTnLst>
                                </p:cTn>
                              </p:par>
                            </p:childTnLst>
                          </p:cTn>
                        </p:par>
                        <p:par>
                          <p:cTn id="100" fill="hold">
                            <p:stCondLst>
                              <p:cond delay="2700"/>
                            </p:stCondLst>
                            <p:childTnLst>
                              <p:par>
                                <p:cTn id="101" presetID="10" presetClass="entr" presetSubtype="0" fill="hold"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450"/>
                                        <p:tgtEl>
                                          <p:spTgt spid="33"/>
                                        </p:tgtEl>
                                      </p:cBhvr>
                                    </p:animEffect>
                                  </p:childTnLst>
                                </p:cTn>
                              </p:par>
                              <p:par>
                                <p:cTn id="104" presetID="10" presetClass="entr" presetSubtype="0" fill="hold"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450"/>
                                        <p:tgtEl>
                                          <p:spTgt spid="34"/>
                                        </p:tgtEl>
                                      </p:cBhvr>
                                    </p:animEffect>
                                  </p:childTnLst>
                                </p:cTn>
                              </p:par>
                              <p:par>
                                <p:cTn id="107" presetID="10" presetClass="entr" presetSubtype="0" fill="hold"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450"/>
                                        <p:tgtEl>
                                          <p:spTgt spid="35"/>
                                        </p:tgtEl>
                                      </p:cBhvr>
                                    </p:animEffect>
                                  </p:childTnLst>
                                </p:cTn>
                              </p:par>
                              <p:par>
                                <p:cTn id="110" presetID="10" presetClass="entr" presetSubtype="0" fill="hold"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50"/>
                                        <p:tgtEl>
                                          <p:spTgt spid="36"/>
                                        </p:tgtEl>
                                      </p:cBhvr>
                                    </p:animEffect>
                                  </p:childTnLst>
                                </p:cTn>
                              </p:par>
                              <p:par>
                                <p:cTn id="113" presetID="10" presetClass="entr" presetSubtype="0" fill="hold"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450"/>
                                        <p:tgtEl>
                                          <p:spTgt spid="37"/>
                                        </p:tgtEl>
                                      </p:cBhvr>
                                    </p:animEffect>
                                  </p:childTnLst>
                                </p:cTn>
                              </p:par>
                              <p:par>
                                <p:cTn id="116" presetID="10" presetClass="entr" presetSubtype="0" fill="hold"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450"/>
                                        <p:tgtEl>
                                          <p:spTgt spid="38"/>
                                        </p:tgtEl>
                                      </p:cBhvr>
                                    </p:animEffect>
                                  </p:childTnLst>
                                </p:cTn>
                              </p:par>
                            </p:childTnLst>
                          </p:cTn>
                        </p:par>
                        <p:par>
                          <p:cTn id="119" fill="hold">
                            <p:stCondLst>
                              <p:cond delay="3150"/>
                            </p:stCondLst>
                            <p:childTnLst>
                              <p:par>
                                <p:cTn id="120" presetID="10" presetClass="entr" presetSubtype="0" fill="hold" nodeType="after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450"/>
                                        <p:tgtEl>
                                          <p:spTgt spid="39"/>
                                        </p:tgtEl>
                                      </p:cBhvr>
                                    </p:animEffect>
                                  </p:childTnLst>
                                </p:cTn>
                              </p:par>
                            </p:childTnLst>
                          </p:cTn>
                        </p:par>
                        <p:par>
                          <p:cTn id="123" fill="hold">
                            <p:stCondLst>
                              <p:cond delay="3600"/>
                            </p:stCondLst>
                            <p:childTnLst>
                              <p:par>
                                <p:cTn id="124" presetID="10" presetClass="entr" presetSubtype="0" fill="hold" nodeType="after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450"/>
                                        <p:tgtEl>
                                          <p:spTgt spid="40"/>
                                        </p:tgtEl>
                                      </p:cBhvr>
                                    </p:animEffect>
                                  </p:childTnLst>
                                </p:cTn>
                              </p:par>
                              <p:par>
                                <p:cTn id="127" presetID="10" presetClass="entr" presetSubtype="0" fill="hold"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450"/>
                                        <p:tgtEl>
                                          <p:spTgt spid="41"/>
                                        </p:tgtEl>
                                      </p:cBhvr>
                                    </p:animEffect>
                                  </p:childTnLst>
                                </p:cTn>
                              </p:par>
                              <p:par>
                                <p:cTn id="130" presetID="10" presetClass="entr" presetSubtype="0" fill="hold" nodeType="with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fade">
                                      <p:cBhvr>
                                        <p:cTn id="132" dur="450"/>
                                        <p:tgtEl>
                                          <p:spTgt spid="42"/>
                                        </p:tgtEl>
                                      </p:cBhvr>
                                    </p:animEffect>
                                  </p:childTnLst>
                                </p:cTn>
                              </p:par>
                              <p:par>
                                <p:cTn id="133" presetID="10" presetClass="entr" presetSubtype="0" fill="hold" nodeType="withEffect">
                                  <p:stCondLst>
                                    <p:cond delay="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450"/>
                                        <p:tgtEl>
                                          <p:spTgt spid="43"/>
                                        </p:tgtEl>
                                      </p:cBhvr>
                                    </p:animEffect>
                                  </p:childTnLst>
                                </p:cTn>
                              </p:par>
                              <p:par>
                                <p:cTn id="136" presetID="10" presetClass="entr" presetSubtype="0" fill="hold" nodeType="withEffect">
                                  <p:stCondLst>
                                    <p:cond delay="0"/>
                                  </p:stCondLst>
                                  <p:childTnLst>
                                    <p:set>
                                      <p:cBhvr>
                                        <p:cTn id="137" dur="1" fill="hold">
                                          <p:stCondLst>
                                            <p:cond delay="0"/>
                                          </p:stCondLst>
                                        </p:cTn>
                                        <p:tgtEl>
                                          <p:spTgt spid="44"/>
                                        </p:tgtEl>
                                        <p:attrNameLst>
                                          <p:attrName>style.visibility</p:attrName>
                                        </p:attrNameLst>
                                      </p:cBhvr>
                                      <p:to>
                                        <p:strVal val="visible"/>
                                      </p:to>
                                    </p:set>
                                    <p:animEffect transition="in" filter="fade">
                                      <p:cBhvr>
                                        <p:cTn id="138" dur="450"/>
                                        <p:tgtEl>
                                          <p:spTgt spid="44"/>
                                        </p:tgtEl>
                                      </p:cBhvr>
                                    </p:animEffect>
                                  </p:childTnLst>
                                </p:cTn>
                              </p:par>
                              <p:par>
                                <p:cTn id="139" presetID="10" presetClass="entr" presetSubtype="0" fill="hold" nodeType="withEffect">
                                  <p:stCondLst>
                                    <p:cond delay="0"/>
                                  </p:stCondLst>
                                  <p:childTnLst>
                                    <p:set>
                                      <p:cBhvr>
                                        <p:cTn id="140" dur="1" fill="hold">
                                          <p:stCondLst>
                                            <p:cond delay="0"/>
                                          </p:stCondLst>
                                        </p:cTn>
                                        <p:tgtEl>
                                          <p:spTgt spid="45"/>
                                        </p:tgtEl>
                                        <p:attrNameLst>
                                          <p:attrName>style.visibility</p:attrName>
                                        </p:attrNameLst>
                                      </p:cBhvr>
                                      <p:to>
                                        <p:strVal val="visible"/>
                                      </p:to>
                                    </p:set>
                                    <p:animEffect transition="in" filter="fade">
                                      <p:cBhvr>
                                        <p:cTn id="141" dur="450"/>
                                        <p:tgtEl>
                                          <p:spTgt spid="45"/>
                                        </p:tgtEl>
                                      </p:cBhvr>
                                    </p:animEffect>
                                  </p:childTnLst>
                                </p:cTn>
                              </p:par>
                              <p:par>
                                <p:cTn id="142" presetID="10" presetClass="entr" presetSubtype="0" fill="hold"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450"/>
                                        <p:tgtEl>
                                          <p:spTgt spid="46"/>
                                        </p:tgtEl>
                                      </p:cBhvr>
                                    </p:animEffect>
                                  </p:childTnLst>
                                </p:cTn>
                              </p:par>
                              <p:par>
                                <p:cTn id="145" presetID="10" presetClass="entr" presetSubtype="0" fill="hold" nodeType="withEffect">
                                  <p:stCondLst>
                                    <p:cond delay="0"/>
                                  </p:stCondLst>
                                  <p:childTnLst>
                                    <p:set>
                                      <p:cBhvr>
                                        <p:cTn id="146" dur="1" fill="hold">
                                          <p:stCondLst>
                                            <p:cond delay="0"/>
                                          </p:stCondLst>
                                        </p:cTn>
                                        <p:tgtEl>
                                          <p:spTgt spid="47"/>
                                        </p:tgtEl>
                                        <p:attrNameLst>
                                          <p:attrName>style.visibility</p:attrName>
                                        </p:attrNameLst>
                                      </p:cBhvr>
                                      <p:to>
                                        <p:strVal val="visible"/>
                                      </p:to>
                                    </p:set>
                                    <p:animEffect transition="in" filter="fade">
                                      <p:cBhvr>
                                        <p:cTn id="147" dur="450"/>
                                        <p:tgtEl>
                                          <p:spTgt spid="47"/>
                                        </p:tgtEl>
                                      </p:cBhvr>
                                    </p:animEffect>
                                  </p:childTnLst>
                                </p:cTn>
                              </p:par>
                              <p:par>
                                <p:cTn id="148" presetID="10" presetClass="entr" presetSubtype="0" fill="hold" nodeType="withEffect">
                                  <p:stCondLst>
                                    <p:cond delay="0"/>
                                  </p:stCondLst>
                                  <p:childTnLst>
                                    <p:set>
                                      <p:cBhvr>
                                        <p:cTn id="149" dur="1" fill="hold">
                                          <p:stCondLst>
                                            <p:cond delay="0"/>
                                          </p:stCondLst>
                                        </p:cTn>
                                        <p:tgtEl>
                                          <p:spTgt spid="48"/>
                                        </p:tgtEl>
                                        <p:attrNameLst>
                                          <p:attrName>style.visibility</p:attrName>
                                        </p:attrNameLst>
                                      </p:cBhvr>
                                      <p:to>
                                        <p:strVal val="visible"/>
                                      </p:to>
                                    </p:set>
                                    <p:animEffect transition="in" filter="fade">
                                      <p:cBhvr>
                                        <p:cTn id="150" dur="450"/>
                                        <p:tgtEl>
                                          <p:spTgt spid="48"/>
                                        </p:tgtEl>
                                      </p:cBhvr>
                                    </p:animEffect>
                                  </p:childTnLst>
                                </p:cTn>
                              </p:par>
                            </p:childTnLst>
                          </p:cTn>
                        </p:par>
                        <p:par>
                          <p:cTn id="151" fill="hold">
                            <p:stCondLst>
                              <p:cond delay="4050"/>
                            </p:stCondLst>
                            <p:childTnLst>
                              <p:par>
                                <p:cTn id="152" presetID="10" presetClass="entr" presetSubtype="0" fill="hold" nodeType="afterEffect">
                                  <p:stCondLst>
                                    <p:cond delay="0"/>
                                  </p:stCondLst>
                                  <p:childTnLst>
                                    <p:set>
                                      <p:cBhvr>
                                        <p:cTn id="153" dur="1" fill="hold">
                                          <p:stCondLst>
                                            <p:cond delay="0"/>
                                          </p:stCondLst>
                                        </p:cTn>
                                        <p:tgtEl>
                                          <p:spTgt spid="49"/>
                                        </p:tgtEl>
                                        <p:attrNameLst>
                                          <p:attrName>style.visibility</p:attrName>
                                        </p:attrNameLst>
                                      </p:cBhvr>
                                      <p:to>
                                        <p:strVal val="visible"/>
                                      </p:to>
                                    </p:set>
                                    <p:animEffect transition="in" filter="fade">
                                      <p:cBhvr>
                                        <p:cTn id="154"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WHY US</a:t>
            </a:r>
            <a:endParaRPr lang="en-US" sz="1200" dirty="0"/>
          </a:p>
        </p:txBody>
      </p:sp>
      <p:sp>
        <p:nvSpPr>
          <p:cNvPr id="3" name="anim_00_105"/>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EEF1F4"/>
                </a:solidFill>
                <a:latin typeface="Arial" pitchFamily="34" charset="0"/>
                <a:ea typeface="Arial" pitchFamily="34" charset="-122"/>
                <a:cs typeface="Arial" pitchFamily="34" charset="-120"/>
              </a:rPr>
              <a:t>Built for how DVI actually happens</a:t>
            </a:r>
            <a:endParaRPr lang="en-US" sz="3400" dirty="0"/>
          </a:p>
        </p:txBody>
      </p:sp>
      <p:sp>
        <p:nvSpPr>
          <p:cNvPr id="4" name="anim_01_106"/>
          <p:cNvSpPr/>
          <p:nvPr/>
        </p:nvSpPr>
        <p:spPr>
          <a:xfrm>
            <a:off x="548640" y="1371600"/>
            <a:ext cx="5410048" cy="1481328"/>
          </a:xfrm>
          <a:prstGeom prst="roundRect">
            <a:avLst>
              <a:gd name="adj" fmla="val 6173"/>
            </a:avLst>
          </a:prstGeom>
          <a:solidFill>
            <a:srgbClr val="17212B"/>
          </a:solidFill>
          <a:ln w="12700">
            <a:solidFill>
              <a:srgbClr val="2E3C4A"/>
            </a:solidFill>
            <a:prstDash val="solid"/>
          </a:ln>
        </p:spPr>
      </p:sp>
      <p:sp>
        <p:nvSpPr>
          <p:cNvPr id="5" name="anim_01_107"/>
          <p:cNvSpPr/>
          <p:nvPr/>
        </p:nvSpPr>
        <p:spPr>
          <a:xfrm>
            <a:off x="822960" y="1645920"/>
            <a:ext cx="658368" cy="658368"/>
          </a:xfrm>
          <a:prstGeom prst="ellipse">
            <a:avLst/>
          </a:prstGeom>
          <a:solidFill>
            <a:srgbClr val="1F2B37"/>
          </a:solidFill>
          <a:ln w="12700">
            <a:solidFill>
              <a:srgbClr val="2E3C4A"/>
            </a:solidFill>
            <a:prstDash val="solid"/>
          </a:ln>
        </p:spPr>
      </p:sp>
      <p:pic>
        <p:nvPicPr>
          <p:cNvPr id="6" name="anim_01_108" descr="preencoded.png"/>
          <p:cNvPicPr>
            <a:picLocks noChangeAspect="1"/>
          </p:cNvPicPr>
          <p:nvPr/>
        </p:nvPicPr>
        <p:blipFill>
          <a:blip r:embed="rId3"/>
          <a:stretch>
            <a:fillRect/>
          </a:stretch>
        </p:blipFill>
        <p:spPr>
          <a:xfrm>
            <a:off x="994136" y="1817096"/>
            <a:ext cx="316017" cy="316017"/>
          </a:xfrm>
          <a:prstGeom prst="rect">
            <a:avLst/>
          </a:prstGeom>
        </p:spPr>
      </p:pic>
      <p:sp>
        <p:nvSpPr>
          <p:cNvPr id="7" name="anim_01_109"/>
          <p:cNvSpPr txBox="1"/>
          <p:nvPr/>
        </p:nvSpPr>
        <p:spPr>
          <a:xfrm>
            <a:off x="1691640" y="1572768"/>
            <a:ext cx="4038448" cy="41148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INTERPOL-native</a:t>
            </a:r>
            <a:endParaRPr lang="en-US" sz="1700" dirty="0"/>
          </a:p>
        </p:txBody>
      </p:sp>
      <p:sp>
        <p:nvSpPr>
          <p:cNvPr id="8" name="anim_01_110"/>
          <p:cNvSpPr txBox="1"/>
          <p:nvPr/>
        </p:nvSpPr>
        <p:spPr>
          <a:xfrm>
            <a:off x="1691640" y="1993392"/>
            <a:ext cx="4038448" cy="731520"/>
          </a:xfrm>
          <a:prstGeom prst="rect">
            <a:avLst/>
          </a:prstGeom>
          <a:noFill/>
          <a:ln/>
        </p:spPr>
        <p:txBody>
          <a:bodyPr wrap="square" lIns="0" tIns="0" rIns="0" bIns="0" rtlCol="0" anchor="t"/>
          <a:lstStyle/>
          <a:p>
            <a:pPr marL="0" indent="0">
              <a:buNone/>
            </a:pPr>
            <a:r>
              <a:rPr lang="en-US" sz="1400" dirty="0">
                <a:solidFill>
                  <a:srgbClr val="9AA7B4"/>
                </a:solidFill>
                <a:latin typeface="Calibri" pitchFamily="34" charset="0"/>
                <a:ea typeface="Calibri" pitchFamily="34" charset="-122"/>
                <a:cs typeface="Calibri" pitchFamily="34" charset="-120"/>
              </a:rPr>
              <a:t>Built on the four DVI phases and the real Pink/Yellow form fields — field teams need zero retraining.</a:t>
            </a:r>
            <a:endParaRPr lang="en-US" sz="1400" dirty="0"/>
          </a:p>
        </p:txBody>
      </p:sp>
      <p:sp>
        <p:nvSpPr>
          <p:cNvPr id="9" name="anim_02_111"/>
          <p:cNvSpPr/>
          <p:nvPr/>
        </p:nvSpPr>
        <p:spPr>
          <a:xfrm>
            <a:off x="6233008" y="1371600"/>
            <a:ext cx="5410048" cy="1481328"/>
          </a:xfrm>
          <a:prstGeom prst="roundRect">
            <a:avLst>
              <a:gd name="adj" fmla="val 6173"/>
            </a:avLst>
          </a:prstGeom>
          <a:solidFill>
            <a:srgbClr val="17212B"/>
          </a:solidFill>
          <a:ln w="12700">
            <a:solidFill>
              <a:srgbClr val="2E3C4A"/>
            </a:solidFill>
            <a:prstDash val="solid"/>
          </a:ln>
        </p:spPr>
      </p:sp>
      <p:sp>
        <p:nvSpPr>
          <p:cNvPr id="10" name="anim_02_112"/>
          <p:cNvSpPr/>
          <p:nvPr/>
        </p:nvSpPr>
        <p:spPr>
          <a:xfrm>
            <a:off x="6507328" y="1645920"/>
            <a:ext cx="658368" cy="658368"/>
          </a:xfrm>
          <a:prstGeom prst="ellipse">
            <a:avLst/>
          </a:prstGeom>
          <a:solidFill>
            <a:srgbClr val="1F2B37"/>
          </a:solidFill>
          <a:ln w="12700">
            <a:solidFill>
              <a:srgbClr val="2E3C4A"/>
            </a:solidFill>
            <a:prstDash val="solid"/>
          </a:ln>
        </p:spPr>
      </p:sp>
      <p:pic>
        <p:nvPicPr>
          <p:cNvPr id="11" name="anim_02_113" descr="preencoded.png"/>
          <p:cNvPicPr>
            <a:picLocks noChangeAspect="1"/>
          </p:cNvPicPr>
          <p:nvPr/>
        </p:nvPicPr>
        <p:blipFill>
          <a:blip r:embed="rId4"/>
          <a:stretch>
            <a:fillRect/>
          </a:stretch>
        </p:blipFill>
        <p:spPr>
          <a:xfrm>
            <a:off x="6678503" y="1817096"/>
            <a:ext cx="316017" cy="316017"/>
          </a:xfrm>
          <a:prstGeom prst="rect">
            <a:avLst/>
          </a:prstGeom>
        </p:spPr>
      </p:pic>
      <p:sp>
        <p:nvSpPr>
          <p:cNvPr id="12" name="anim_02_114"/>
          <p:cNvSpPr txBox="1"/>
          <p:nvPr/>
        </p:nvSpPr>
        <p:spPr>
          <a:xfrm>
            <a:off x="7376008" y="1572768"/>
            <a:ext cx="4038448" cy="41148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Weighted, tiered scoring</a:t>
            </a:r>
            <a:endParaRPr lang="en-US" sz="1700" dirty="0"/>
          </a:p>
        </p:txBody>
      </p:sp>
      <p:sp>
        <p:nvSpPr>
          <p:cNvPr id="13" name="anim_02_115"/>
          <p:cNvSpPr txBox="1"/>
          <p:nvPr/>
        </p:nvSpPr>
        <p:spPr>
          <a:xfrm>
            <a:off x="7376008" y="1993392"/>
            <a:ext cx="4038448" cy="731520"/>
          </a:xfrm>
          <a:prstGeom prst="rect">
            <a:avLst/>
          </a:prstGeom>
          <a:noFill/>
          <a:ln/>
        </p:spPr>
        <p:txBody>
          <a:bodyPr wrap="square" lIns="0" tIns="0" rIns="0" bIns="0" rtlCol="0" anchor="t"/>
          <a:lstStyle/>
          <a:p>
            <a:pPr marL="0" indent="0">
              <a:buNone/>
            </a:pPr>
            <a:r>
              <a:rPr lang="en-US" sz="1400" dirty="0">
                <a:solidFill>
                  <a:srgbClr val="9AA7B4"/>
                </a:solidFill>
                <a:latin typeface="Calibri" pitchFamily="34" charset="0"/>
                <a:ea typeface="Calibri" pitchFamily="34" charset="-122"/>
                <a:cs typeface="Calibri" pitchFamily="34" charset="-120"/>
              </a:rPr>
              <a:t>A dental chart outweighs a shirt colour. Flat checklists count them the same.</a:t>
            </a:r>
            <a:endParaRPr lang="en-US" sz="1400" dirty="0"/>
          </a:p>
        </p:txBody>
      </p:sp>
      <p:sp>
        <p:nvSpPr>
          <p:cNvPr id="14" name="anim_03_116"/>
          <p:cNvSpPr/>
          <p:nvPr/>
        </p:nvSpPr>
        <p:spPr>
          <a:xfrm>
            <a:off x="548640" y="3081528"/>
            <a:ext cx="5410048" cy="1481328"/>
          </a:xfrm>
          <a:prstGeom prst="roundRect">
            <a:avLst>
              <a:gd name="adj" fmla="val 6173"/>
            </a:avLst>
          </a:prstGeom>
          <a:solidFill>
            <a:srgbClr val="17212B"/>
          </a:solidFill>
          <a:ln w="12700">
            <a:solidFill>
              <a:srgbClr val="2E3C4A"/>
            </a:solidFill>
            <a:prstDash val="solid"/>
          </a:ln>
        </p:spPr>
      </p:sp>
      <p:sp>
        <p:nvSpPr>
          <p:cNvPr id="15" name="anim_03_117"/>
          <p:cNvSpPr/>
          <p:nvPr/>
        </p:nvSpPr>
        <p:spPr>
          <a:xfrm>
            <a:off x="822960" y="3355848"/>
            <a:ext cx="658368" cy="658368"/>
          </a:xfrm>
          <a:prstGeom prst="ellipse">
            <a:avLst/>
          </a:prstGeom>
          <a:solidFill>
            <a:srgbClr val="1F2B37"/>
          </a:solidFill>
          <a:ln w="12700">
            <a:solidFill>
              <a:srgbClr val="2E3C4A"/>
            </a:solidFill>
            <a:prstDash val="solid"/>
          </a:ln>
        </p:spPr>
      </p:sp>
      <p:pic>
        <p:nvPicPr>
          <p:cNvPr id="16" name="anim_03_118" descr="preencoded.png"/>
          <p:cNvPicPr>
            <a:picLocks noChangeAspect="1"/>
          </p:cNvPicPr>
          <p:nvPr/>
        </p:nvPicPr>
        <p:blipFill>
          <a:blip r:embed="rId5"/>
          <a:stretch>
            <a:fillRect/>
          </a:stretch>
        </p:blipFill>
        <p:spPr>
          <a:xfrm>
            <a:off x="994136" y="3527024"/>
            <a:ext cx="316017" cy="316017"/>
          </a:xfrm>
          <a:prstGeom prst="rect">
            <a:avLst/>
          </a:prstGeom>
        </p:spPr>
      </p:pic>
      <p:sp>
        <p:nvSpPr>
          <p:cNvPr id="17" name="anim_03_119"/>
          <p:cNvSpPr txBox="1"/>
          <p:nvPr/>
        </p:nvSpPr>
        <p:spPr>
          <a:xfrm>
            <a:off x="1691640" y="3282696"/>
            <a:ext cx="4038448" cy="41148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Designed for degraded evidence</a:t>
            </a:r>
            <a:endParaRPr lang="en-US" sz="1700" dirty="0"/>
          </a:p>
        </p:txBody>
      </p:sp>
      <p:sp>
        <p:nvSpPr>
          <p:cNvPr id="18" name="anim_03_120"/>
          <p:cNvSpPr txBox="1"/>
          <p:nvPr/>
        </p:nvSpPr>
        <p:spPr>
          <a:xfrm>
            <a:off x="1691640" y="3703320"/>
            <a:ext cx="4038448" cy="731520"/>
          </a:xfrm>
          <a:prstGeom prst="rect">
            <a:avLst/>
          </a:prstGeom>
          <a:noFill/>
          <a:ln/>
        </p:spPr>
        <p:txBody>
          <a:bodyPr wrap="square" lIns="0" tIns="0" rIns="0" bIns="0" rtlCol="0" anchor="t"/>
          <a:lstStyle/>
          <a:p>
            <a:pPr marL="0" indent="0">
              <a:buNone/>
            </a:pPr>
            <a:r>
              <a:rPr lang="en-US" sz="1400" dirty="0">
                <a:solidFill>
                  <a:srgbClr val="9AA7B4"/>
                </a:solidFill>
                <a:latin typeface="Calibri" pitchFamily="34" charset="0"/>
                <a:ea typeface="Calibri" pitchFamily="34" charset="-122"/>
                <a:cs typeface="Calibri" pitchFamily="34" charset="-120"/>
              </a:rPr>
              <a:t>Burnt, decomposed, partial remains are the normal case — not the clean-DNA best case.</a:t>
            </a:r>
            <a:endParaRPr lang="en-US" sz="1400" dirty="0"/>
          </a:p>
        </p:txBody>
      </p:sp>
      <p:sp>
        <p:nvSpPr>
          <p:cNvPr id="19" name="anim_04_121"/>
          <p:cNvSpPr/>
          <p:nvPr/>
        </p:nvSpPr>
        <p:spPr>
          <a:xfrm>
            <a:off x="6233008" y="3081528"/>
            <a:ext cx="5410048" cy="1481328"/>
          </a:xfrm>
          <a:prstGeom prst="roundRect">
            <a:avLst>
              <a:gd name="adj" fmla="val 6173"/>
            </a:avLst>
          </a:prstGeom>
          <a:solidFill>
            <a:srgbClr val="17212B"/>
          </a:solidFill>
          <a:ln w="12700">
            <a:solidFill>
              <a:srgbClr val="2E3C4A"/>
            </a:solidFill>
            <a:prstDash val="solid"/>
          </a:ln>
        </p:spPr>
      </p:sp>
      <p:sp>
        <p:nvSpPr>
          <p:cNvPr id="20" name="anim_04_122"/>
          <p:cNvSpPr/>
          <p:nvPr/>
        </p:nvSpPr>
        <p:spPr>
          <a:xfrm>
            <a:off x="6507328" y="3355848"/>
            <a:ext cx="658368" cy="658368"/>
          </a:xfrm>
          <a:prstGeom prst="ellipse">
            <a:avLst/>
          </a:prstGeom>
          <a:solidFill>
            <a:srgbClr val="1F2B37"/>
          </a:solidFill>
          <a:ln w="12700">
            <a:solidFill>
              <a:srgbClr val="2E3C4A"/>
            </a:solidFill>
            <a:prstDash val="solid"/>
          </a:ln>
        </p:spPr>
      </p:sp>
      <p:pic>
        <p:nvPicPr>
          <p:cNvPr id="21" name="anim_04_123" descr="preencoded.png"/>
          <p:cNvPicPr>
            <a:picLocks noChangeAspect="1"/>
          </p:cNvPicPr>
          <p:nvPr/>
        </p:nvPicPr>
        <p:blipFill>
          <a:blip r:embed="rId6"/>
          <a:stretch>
            <a:fillRect/>
          </a:stretch>
        </p:blipFill>
        <p:spPr>
          <a:xfrm>
            <a:off x="6678503" y="3527024"/>
            <a:ext cx="316017" cy="316017"/>
          </a:xfrm>
          <a:prstGeom prst="rect">
            <a:avLst/>
          </a:prstGeom>
        </p:spPr>
      </p:pic>
      <p:sp>
        <p:nvSpPr>
          <p:cNvPr id="22" name="anim_04_124"/>
          <p:cNvSpPr txBox="1"/>
          <p:nvPr/>
        </p:nvSpPr>
        <p:spPr>
          <a:xfrm>
            <a:off x="7376008" y="3282696"/>
            <a:ext cx="4038448" cy="411480"/>
          </a:xfrm>
          <a:prstGeom prst="rect">
            <a:avLst/>
          </a:prstGeom>
          <a:noFill/>
          <a:ln/>
        </p:spPr>
        <p:txBody>
          <a:bodyPr wrap="square" lIns="0" tIns="0" rIns="0" bIns="0" rtlCol="0" anchor="ctr"/>
          <a:lstStyle/>
          <a:p>
            <a:pPr marL="0" indent="0">
              <a:buNone/>
            </a:pPr>
            <a:r>
              <a:rPr lang="en-US" sz="1700" b="1" dirty="0">
                <a:solidFill>
                  <a:srgbClr val="EEF1F4"/>
                </a:solidFill>
                <a:latin typeface="Arial" pitchFamily="34" charset="0"/>
                <a:ea typeface="Arial" pitchFamily="34" charset="-122"/>
                <a:cs typeface="Arial" pitchFamily="34" charset="-120"/>
              </a:rPr>
              <a:t>Proven end to end</a:t>
            </a:r>
            <a:endParaRPr lang="en-US" sz="1700" dirty="0"/>
          </a:p>
        </p:txBody>
      </p:sp>
      <p:sp>
        <p:nvSpPr>
          <p:cNvPr id="23" name="anim_04_125"/>
          <p:cNvSpPr txBox="1"/>
          <p:nvPr/>
        </p:nvSpPr>
        <p:spPr>
          <a:xfrm>
            <a:off x="7376008" y="3703320"/>
            <a:ext cx="4038448" cy="731520"/>
          </a:xfrm>
          <a:prstGeom prst="rect">
            <a:avLst/>
          </a:prstGeom>
          <a:noFill/>
          <a:ln/>
        </p:spPr>
        <p:txBody>
          <a:bodyPr wrap="square" lIns="0" tIns="0" rIns="0" bIns="0" rtlCol="0" anchor="t"/>
          <a:lstStyle/>
          <a:p>
            <a:pPr marL="0" indent="0">
              <a:buNone/>
            </a:pPr>
            <a:r>
              <a:rPr lang="en-US" sz="1400" dirty="0">
                <a:solidFill>
                  <a:srgbClr val="9AA7B4"/>
                </a:solidFill>
                <a:latin typeface="Calibri" pitchFamily="34" charset="0"/>
                <a:ea typeface="Calibri" pitchFamily="34" charset="-122"/>
                <a:cs typeface="Calibri" pitchFamily="34" charset="-120"/>
              </a:rPr>
              <a:t>Form → database is lossless on real ground-truth records; the matcher solved a case with zero usable primary identifiers.</a:t>
            </a:r>
            <a:endParaRPr lang="en-US" sz="1400" dirty="0"/>
          </a:p>
        </p:txBody>
      </p:sp>
      <p:sp>
        <p:nvSpPr>
          <p:cNvPr id="24" name="anim_05_126"/>
          <p:cNvSpPr txBox="1"/>
          <p:nvPr/>
        </p:nvSpPr>
        <p:spPr>
          <a:xfrm>
            <a:off x="548640" y="4892040"/>
            <a:ext cx="1600200" cy="822960"/>
          </a:xfrm>
          <a:prstGeom prst="rect">
            <a:avLst/>
          </a:prstGeom>
          <a:noFill/>
          <a:ln/>
        </p:spPr>
        <p:txBody>
          <a:bodyPr wrap="square" lIns="0" tIns="0" rIns="0" bIns="0" rtlCol="0" anchor="ctr"/>
          <a:lstStyle/>
          <a:p>
            <a:pPr marL="0" indent="0">
              <a:buNone/>
            </a:pPr>
            <a:r>
              <a:rPr lang="en-US" sz="4000" b="1" dirty="0">
                <a:solidFill>
                  <a:srgbClr val="F5A524"/>
                </a:solidFill>
                <a:latin typeface="Arial" pitchFamily="34" charset="0"/>
                <a:ea typeface="Arial" pitchFamily="34" charset="-122"/>
                <a:cs typeface="Arial" pitchFamily="34" charset="-120"/>
              </a:rPr>
              <a:t>94.6%</a:t>
            </a:r>
            <a:endParaRPr lang="en-US" sz="4000" dirty="0"/>
          </a:p>
        </p:txBody>
      </p:sp>
      <p:sp>
        <p:nvSpPr>
          <p:cNvPr id="25" name="anim_05_127"/>
          <p:cNvSpPr txBox="1"/>
          <p:nvPr/>
        </p:nvSpPr>
        <p:spPr>
          <a:xfrm>
            <a:off x="2240280" y="4892040"/>
            <a:ext cx="1823618" cy="82296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reading family statements in English, Hindi &amp; Marathi</a:t>
            </a:r>
            <a:endParaRPr lang="en-US" sz="1300" dirty="0"/>
          </a:p>
        </p:txBody>
      </p:sp>
      <p:sp>
        <p:nvSpPr>
          <p:cNvPr id="26" name="anim_05_128"/>
          <p:cNvSpPr txBox="1"/>
          <p:nvPr/>
        </p:nvSpPr>
        <p:spPr>
          <a:xfrm>
            <a:off x="4338218" y="4892040"/>
            <a:ext cx="731520" cy="822960"/>
          </a:xfrm>
          <a:prstGeom prst="rect">
            <a:avLst/>
          </a:prstGeom>
          <a:noFill/>
          <a:ln/>
        </p:spPr>
        <p:txBody>
          <a:bodyPr wrap="square" lIns="0" tIns="0" rIns="0" bIns="0" rtlCol="0" anchor="ctr"/>
          <a:lstStyle/>
          <a:p>
            <a:pPr marL="0" indent="0">
              <a:buNone/>
            </a:pPr>
            <a:r>
              <a:rPr lang="en-US" sz="4000" b="1" dirty="0">
                <a:solidFill>
                  <a:srgbClr val="F5A524"/>
                </a:solidFill>
                <a:latin typeface="Arial" pitchFamily="34" charset="0"/>
                <a:ea typeface="Arial" pitchFamily="34" charset="-122"/>
                <a:cs typeface="Arial" pitchFamily="34" charset="-120"/>
              </a:rPr>
              <a:t>17</a:t>
            </a:r>
            <a:endParaRPr lang="en-US" sz="4000" dirty="0"/>
          </a:p>
        </p:txBody>
      </p:sp>
      <p:sp>
        <p:nvSpPr>
          <p:cNvPr id="27" name="anim_05_129"/>
          <p:cNvSpPr txBox="1"/>
          <p:nvPr/>
        </p:nvSpPr>
        <p:spPr>
          <a:xfrm>
            <a:off x="5161178" y="4892040"/>
            <a:ext cx="2692298" cy="82296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weighted evidence categories per comparison</a:t>
            </a:r>
            <a:endParaRPr lang="en-US" sz="1300" dirty="0"/>
          </a:p>
        </p:txBody>
      </p:sp>
      <p:sp>
        <p:nvSpPr>
          <p:cNvPr id="28" name="anim_05_130"/>
          <p:cNvSpPr txBox="1"/>
          <p:nvPr/>
        </p:nvSpPr>
        <p:spPr>
          <a:xfrm>
            <a:off x="8127797" y="4892040"/>
            <a:ext cx="457200" cy="822960"/>
          </a:xfrm>
          <a:prstGeom prst="rect">
            <a:avLst/>
          </a:prstGeom>
          <a:noFill/>
          <a:ln/>
        </p:spPr>
        <p:txBody>
          <a:bodyPr wrap="square" lIns="0" tIns="0" rIns="0" bIns="0" rtlCol="0" anchor="ctr"/>
          <a:lstStyle/>
          <a:p>
            <a:pPr marL="0" indent="0">
              <a:buNone/>
            </a:pPr>
            <a:r>
              <a:rPr lang="en-US" sz="4000" b="1" dirty="0">
                <a:solidFill>
                  <a:srgbClr val="F5A524"/>
                </a:solidFill>
                <a:latin typeface="Arial" pitchFamily="34" charset="0"/>
                <a:ea typeface="Arial" pitchFamily="34" charset="-122"/>
                <a:cs typeface="Arial" pitchFamily="34" charset="-120"/>
              </a:rPr>
              <a:t>0</a:t>
            </a:r>
            <a:endParaRPr lang="en-US" sz="4000" dirty="0"/>
          </a:p>
        </p:txBody>
      </p:sp>
      <p:sp>
        <p:nvSpPr>
          <p:cNvPr id="29" name="anim_05_131"/>
          <p:cNvSpPr txBox="1"/>
          <p:nvPr/>
        </p:nvSpPr>
        <p:spPr>
          <a:xfrm>
            <a:off x="8676437" y="4901005"/>
            <a:ext cx="2966618" cy="82296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true matches dropped from the shortlist</a:t>
            </a:r>
            <a:endParaRPr lang="en-US" sz="1300" dirty="0"/>
          </a:p>
        </p:txBody>
      </p:sp>
      <p:sp>
        <p:nvSpPr>
          <p:cNvPr id="30" name="Text 24"/>
          <p:cNvSpPr txBox="1"/>
          <p:nvPr/>
        </p:nvSpPr>
        <p:spPr>
          <a:xfrm>
            <a:off x="548640" y="6400800"/>
            <a:ext cx="9875520" cy="274320"/>
          </a:xfrm>
          <a:prstGeom prst="rect">
            <a:avLst/>
          </a:prstGeom>
          <a:noFill/>
          <a:ln/>
        </p:spPr>
        <p:txBody>
          <a:bodyPr wrap="square" lIns="0" tIns="0" rIns="0" bIns="0" rtlCol="0" anchor="ctr"/>
          <a:lstStyle/>
          <a:p>
            <a:pPr marL="0" indent="0">
              <a:buNone/>
            </a:pPr>
            <a:r>
              <a:rPr lang="en-US" sz="1000" dirty="0">
                <a:solidFill>
                  <a:srgbClr val="6B7885"/>
                </a:solidFill>
                <a:latin typeface="Calibri" pitchFamily="34" charset="0"/>
                <a:ea typeface="Calibri" pitchFamily="34" charset="-122"/>
                <a:cs typeface="Calibri" pitchFamily="34" charset="-120"/>
              </a:rPr>
              <a:t>Figures from our evaluation on a synthetic multilingual DVI dataset (rules-v1 extractor; 86 true PM/AM pairs).</a:t>
            </a:r>
            <a:endParaRPr lang="en-US" sz="1000" dirty="0"/>
          </a:p>
        </p:txBody>
      </p:sp>
      <p:sp>
        <p:nvSpPr>
          <p:cNvPr id="31" name="Text 25"/>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en-US" sz="1000" dirty="0">
                <a:solidFill>
                  <a:srgbClr val="6B7885"/>
                </a:solidFill>
                <a:latin typeface="Calibri" pitchFamily="34" charset="0"/>
                <a:ea typeface="Calibri" pitchFamily="34" charset="-122"/>
                <a:cs typeface="Calibri" pitchFamily="34" charset="-120"/>
              </a:rPr>
              <a:t>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par>
                          <p:cTn id="24" fill="hold">
                            <p:stCondLst>
                              <p:cond delay="9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par>
                          <p:cTn id="40" fill="hold">
                            <p:stCondLst>
                              <p:cond delay="1350"/>
                            </p:stCondLst>
                            <p:childTnLst>
                              <p:par>
                                <p:cTn id="41" presetID="10" presetClass="entr" presetSubtype="0"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par>
                          <p:cTn id="56" fill="hold">
                            <p:stCondLst>
                              <p:cond delay="1800"/>
                            </p:stCondLst>
                            <p:childTnLst>
                              <p:par>
                                <p:cTn id="57" presetID="10" presetClass="entr" presetSubtype="0"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par>
                                <p:cTn id="60" presetID="10"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5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5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50"/>
                                        <p:tgtEl>
                                          <p:spTgt spid="23"/>
                                        </p:tgtEl>
                                      </p:cBhvr>
                                    </p:animEffect>
                                  </p:childTnLst>
                                </p:cTn>
                              </p:par>
                            </p:childTnLst>
                          </p:cTn>
                        </p:par>
                        <p:par>
                          <p:cTn id="72" fill="hold">
                            <p:stCondLst>
                              <p:cond delay="2250"/>
                            </p:stCondLst>
                            <p:childTnLst>
                              <p:par>
                                <p:cTn id="73" presetID="10" presetClass="entr" presetSubtype="0" fill="hold"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450"/>
                                        <p:tgtEl>
                                          <p:spTgt spid="24"/>
                                        </p:tgtEl>
                                      </p:cBhvr>
                                    </p:animEffect>
                                  </p:childTnLst>
                                </p:cTn>
                              </p:par>
                              <p:par>
                                <p:cTn id="76" presetID="10" presetClass="entr" presetSubtype="0"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450"/>
                                        <p:tgtEl>
                                          <p:spTgt spid="25"/>
                                        </p:tgtEl>
                                      </p:cBhvr>
                                    </p:animEffect>
                                  </p:childTnLst>
                                </p:cTn>
                              </p:par>
                              <p:par>
                                <p:cTn id="79" presetID="10" presetClass="entr" presetSubtype="0" fill="hold"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50"/>
                                        <p:tgtEl>
                                          <p:spTgt spid="27"/>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45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300" dirty="0">
                <a:solidFill>
                  <a:srgbClr val="F5A524"/>
                </a:solidFill>
                <a:latin typeface="Calibri" pitchFamily="34" charset="0"/>
                <a:ea typeface="Calibri" pitchFamily="34" charset="-122"/>
                <a:cs typeface="Calibri" pitchFamily="34" charset="-120"/>
              </a:rPr>
              <a:t>THE DEMO</a:t>
            </a:r>
            <a:endParaRPr lang="en-US" sz="1200" dirty="0"/>
          </a:p>
        </p:txBody>
      </p:sp>
      <p:sp>
        <p:nvSpPr>
          <p:cNvPr id="3" name="anim_00_132"/>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EEF1F4"/>
                </a:solidFill>
                <a:latin typeface="Arial" pitchFamily="34" charset="0"/>
                <a:ea typeface="Arial" pitchFamily="34" charset="-122"/>
                <a:cs typeface="Arial" pitchFamily="34" charset="-120"/>
              </a:rPr>
              <a:t>The case a checklist can’t solve</a:t>
            </a:r>
            <a:endParaRPr lang="en-US" sz="3400" dirty="0"/>
          </a:p>
        </p:txBody>
      </p:sp>
      <p:sp>
        <p:nvSpPr>
          <p:cNvPr id="4" name="anim_01_133"/>
          <p:cNvSpPr txBox="1"/>
          <p:nvPr/>
        </p:nvSpPr>
        <p:spPr>
          <a:xfrm>
            <a:off x="548640" y="1280160"/>
            <a:ext cx="6309360" cy="320040"/>
          </a:xfrm>
          <a:prstGeom prst="rect">
            <a:avLst/>
          </a:prstGeom>
          <a:noFill/>
          <a:ln/>
        </p:spPr>
        <p:txBody>
          <a:bodyPr wrap="square" lIns="0" tIns="0" rIns="0" bIns="0" rtlCol="0" anchor="ctr"/>
          <a:lstStyle/>
          <a:p>
            <a:pPr marL="0" indent="0">
              <a:buNone/>
            </a:pPr>
            <a:r>
              <a:rPr lang="en-US" sz="1400" dirty="0">
                <a:solidFill>
                  <a:srgbClr val="9AA7B4"/>
                </a:solidFill>
                <a:latin typeface="Calibri" pitchFamily="34" charset="0"/>
                <a:ea typeface="Calibri" pitchFamily="34" charset="-122"/>
                <a:cs typeface="Calibri" pitchFamily="34" charset="-120"/>
              </a:rPr>
              <a:t>Hard case · synthetic Maharashtra monsoon landslide</a:t>
            </a:r>
            <a:endParaRPr lang="en-US" sz="1400" dirty="0"/>
          </a:p>
        </p:txBody>
      </p:sp>
      <p:sp>
        <p:nvSpPr>
          <p:cNvPr id="5" name="anim_02_134"/>
          <p:cNvSpPr/>
          <p:nvPr/>
        </p:nvSpPr>
        <p:spPr>
          <a:xfrm>
            <a:off x="548640" y="1737360"/>
            <a:ext cx="6309360" cy="548640"/>
          </a:xfrm>
          <a:prstGeom prst="roundRect">
            <a:avLst>
              <a:gd name="adj" fmla="val 10000"/>
            </a:avLst>
          </a:prstGeom>
          <a:solidFill>
            <a:srgbClr val="17212B"/>
          </a:solidFill>
          <a:ln w="12700">
            <a:solidFill>
              <a:srgbClr val="2E3C4A"/>
            </a:solidFill>
            <a:prstDash val="solid"/>
          </a:ln>
        </p:spPr>
      </p:sp>
      <p:pic>
        <p:nvPicPr>
          <p:cNvPr id="6" name="anim_02_135" descr="preencoded.png"/>
          <p:cNvPicPr>
            <a:picLocks noChangeAspect="1"/>
          </p:cNvPicPr>
          <p:nvPr/>
        </p:nvPicPr>
        <p:blipFill>
          <a:blip r:embed="rId3"/>
          <a:stretch>
            <a:fillRect/>
          </a:stretch>
        </p:blipFill>
        <p:spPr>
          <a:xfrm>
            <a:off x="749808" y="1865376"/>
            <a:ext cx="292608" cy="292608"/>
          </a:xfrm>
          <a:prstGeom prst="rect">
            <a:avLst/>
          </a:prstGeom>
        </p:spPr>
      </p:pic>
      <p:sp>
        <p:nvSpPr>
          <p:cNvPr id="7" name="anim_02_136"/>
          <p:cNvSpPr txBox="1"/>
          <p:nvPr/>
        </p:nvSpPr>
        <p:spPr>
          <a:xfrm>
            <a:off x="1234440" y="1737360"/>
            <a:ext cx="2743200" cy="54864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DNA</a:t>
            </a:r>
            <a:endParaRPr lang="en-US" sz="1500" dirty="0"/>
          </a:p>
        </p:txBody>
      </p:sp>
      <p:sp>
        <p:nvSpPr>
          <p:cNvPr id="8" name="anim_02_137"/>
          <p:cNvSpPr txBox="1"/>
          <p:nvPr/>
        </p:nvSpPr>
        <p:spPr>
          <a:xfrm>
            <a:off x="3840480" y="1737360"/>
            <a:ext cx="2377440" cy="548640"/>
          </a:xfrm>
          <a:prstGeom prst="rect">
            <a:avLst/>
          </a:prstGeom>
          <a:noFill/>
          <a:ln/>
        </p:spPr>
        <p:txBody>
          <a:bodyPr wrap="square" lIns="0" tIns="0" rIns="0" bIns="0" rtlCol="0" anchor="ctr"/>
          <a:lstStyle/>
          <a:p>
            <a:pPr marL="0" indent="0" algn="r">
              <a:buNone/>
            </a:pPr>
            <a:r>
              <a:rPr lang="en-US" sz="1500" dirty="0">
                <a:solidFill>
                  <a:srgbClr val="9AA7B4"/>
                </a:solidFill>
                <a:latin typeface="Calibri" pitchFamily="34" charset="0"/>
                <a:ea typeface="Calibri" pitchFamily="34" charset="-122"/>
                <a:cs typeface="Calibri" pitchFamily="34" charset="-120"/>
              </a:rPr>
              <a:t>Degraded</a:t>
            </a:r>
            <a:endParaRPr lang="en-US" sz="1500" dirty="0"/>
          </a:p>
        </p:txBody>
      </p:sp>
      <p:pic>
        <p:nvPicPr>
          <p:cNvPr id="9" name="anim_02_138" descr="preencoded.png"/>
          <p:cNvPicPr>
            <a:picLocks noChangeAspect="1"/>
          </p:cNvPicPr>
          <p:nvPr/>
        </p:nvPicPr>
        <p:blipFill>
          <a:blip r:embed="rId4"/>
          <a:stretch>
            <a:fillRect/>
          </a:stretch>
        </p:blipFill>
        <p:spPr>
          <a:xfrm>
            <a:off x="6382512" y="1874520"/>
            <a:ext cx="274320" cy="274320"/>
          </a:xfrm>
          <a:prstGeom prst="rect">
            <a:avLst/>
          </a:prstGeom>
        </p:spPr>
      </p:pic>
      <p:sp>
        <p:nvSpPr>
          <p:cNvPr id="10" name="anim_03_139"/>
          <p:cNvSpPr/>
          <p:nvPr/>
        </p:nvSpPr>
        <p:spPr>
          <a:xfrm>
            <a:off x="548640" y="2395728"/>
            <a:ext cx="6309360" cy="548640"/>
          </a:xfrm>
          <a:prstGeom prst="roundRect">
            <a:avLst>
              <a:gd name="adj" fmla="val 10000"/>
            </a:avLst>
          </a:prstGeom>
          <a:solidFill>
            <a:srgbClr val="17212B"/>
          </a:solidFill>
          <a:ln w="12700">
            <a:solidFill>
              <a:srgbClr val="2E3C4A"/>
            </a:solidFill>
            <a:prstDash val="solid"/>
          </a:ln>
        </p:spPr>
      </p:sp>
      <p:pic>
        <p:nvPicPr>
          <p:cNvPr id="11" name="anim_03_140" descr="preencoded.png"/>
          <p:cNvPicPr>
            <a:picLocks noChangeAspect="1"/>
          </p:cNvPicPr>
          <p:nvPr/>
        </p:nvPicPr>
        <p:blipFill>
          <a:blip r:embed="rId5"/>
          <a:stretch>
            <a:fillRect/>
          </a:stretch>
        </p:blipFill>
        <p:spPr>
          <a:xfrm>
            <a:off x="749808" y="2523744"/>
            <a:ext cx="292608" cy="292608"/>
          </a:xfrm>
          <a:prstGeom prst="rect">
            <a:avLst/>
          </a:prstGeom>
        </p:spPr>
      </p:pic>
      <p:sp>
        <p:nvSpPr>
          <p:cNvPr id="12" name="anim_03_141"/>
          <p:cNvSpPr txBox="1"/>
          <p:nvPr/>
        </p:nvSpPr>
        <p:spPr>
          <a:xfrm>
            <a:off x="1234440" y="2395728"/>
            <a:ext cx="2743200" cy="54864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Dental</a:t>
            </a:r>
            <a:endParaRPr lang="en-US" sz="1500" dirty="0"/>
          </a:p>
        </p:txBody>
      </p:sp>
      <p:sp>
        <p:nvSpPr>
          <p:cNvPr id="13" name="anim_03_142"/>
          <p:cNvSpPr txBox="1"/>
          <p:nvPr/>
        </p:nvSpPr>
        <p:spPr>
          <a:xfrm>
            <a:off x="3840480" y="2395728"/>
            <a:ext cx="2377440" cy="548640"/>
          </a:xfrm>
          <a:prstGeom prst="rect">
            <a:avLst/>
          </a:prstGeom>
          <a:noFill/>
          <a:ln/>
        </p:spPr>
        <p:txBody>
          <a:bodyPr wrap="square" lIns="0" tIns="0" rIns="0" bIns="0" rtlCol="0" anchor="ctr"/>
          <a:lstStyle/>
          <a:p>
            <a:pPr marL="0" indent="0" algn="r">
              <a:buNone/>
            </a:pPr>
            <a:r>
              <a:rPr lang="en-US" sz="1500" dirty="0">
                <a:solidFill>
                  <a:srgbClr val="9AA7B4"/>
                </a:solidFill>
                <a:latin typeface="Calibri" pitchFamily="34" charset="0"/>
                <a:ea typeface="Calibri" pitchFamily="34" charset="-122"/>
                <a:cs typeface="Calibri" pitchFamily="34" charset="-120"/>
              </a:rPr>
              <a:t>Unexaminable</a:t>
            </a:r>
            <a:endParaRPr lang="en-US" sz="1500" dirty="0"/>
          </a:p>
        </p:txBody>
      </p:sp>
      <p:pic>
        <p:nvPicPr>
          <p:cNvPr id="14" name="anim_03_143" descr="preencoded.png"/>
          <p:cNvPicPr>
            <a:picLocks noChangeAspect="1"/>
          </p:cNvPicPr>
          <p:nvPr/>
        </p:nvPicPr>
        <p:blipFill>
          <a:blip r:embed="rId4"/>
          <a:stretch>
            <a:fillRect/>
          </a:stretch>
        </p:blipFill>
        <p:spPr>
          <a:xfrm>
            <a:off x="6382512" y="2532888"/>
            <a:ext cx="274320" cy="274320"/>
          </a:xfrm>
          <a:prstGeom prst="rect">
            <a:avLst/>
          </a:prstGeom>
        </p:spPr>
      </p:pic>
      <p:sp>
        <p:nvSpPr>
          <p:cNvPr id="15" name="anim_04_144"/>
          <p:cNvSpPr/>
          <p:nvPr/>
        </p:nvSpPr>
        <p:spPr>
          <a:xfrm>
            <a:off x="548640" y="3054096"/>
            <a:ext cx="6309360" cy="548640"/>
          </a:xfrm>
          <a:prstGeom prst="roundRect">
            <a:avLst>
              <a:gd name="adj" fmla="val 10000"/>
            </a:avLst>
          </a:prstGeom>
          <a:solidFill>
            <a:srgbClr val="17212B"/>
          </a:solidFill>
          <a:ln w="12700">
            <a:solidFill>
              <a:srgbClr val="2E3C4A"/>
            </a:solidFill>
            <a:prstDash val="solid"/>
          </a:ln>
        </p:spPr>
      </p:sp>
      <p:pic>
        <p:nvPicPr>
          <p:cNvPr id="16" name="anim_04_145" descr="preencoded.png"/>
          <p:cNvPicPr>
            <a:picLocks noChangeAspect="1"/>
          </p:cNvPicPr>
          <p:nvPr/>
        </p:nvPicPr>
        <p:blipFill>
          <a:blip r:embed="rId6"/>
          <a:stretch>
            <a:fillRect/>
          </a:stretch>
        </p:blipFill>
        <p:spPr>
          <a:xfrm>
            <a:off x="749808" y="3182112"/>
            <a:ext cx="292608" cy="292608"/>
          </a:xfrm>
          <a:prstGeom prst="rect">
            <a:avLst/>
          </a:prstGeom>
        </p:spPr>
      </p:pic>
      <p:sp>
        <p:nvSpPr>
          <p:cNvPr id="17" name="anim_04_146"/>
          <p:cNvSpPr txBox="1"/>
          <p:nvPr/>
        </p:nvSpPr>
        <p:spPr>
          <a:xfrm>
            <a:off x="1234440" y="3054096"/>
            <a:ext cx="2743200" cy="548640"/>
          </a:xfrm>
          <a:prstGeom prst="rect">
            <a:avLst/>
          </a:prstGeom>
          <a:noFill/>
          <a:ln/>
        </p:spPr>
        <p:txBody>
          <a:bodyPr wrap="square" lIns="0" tIns="0" rIns="0" bIns="0" rtlCol="0" anchor="ctr"/>
          <a:lstStyle/>
          <a:p>
            <a:pPr marL="0" indent="0">
              <a:buNone/>
            </a:pPr>
            <a:r>
              <a:rPr lang="en-US" sz="1500" b="1" dirty="0">
                <a:solidFill>
                  <a:srgbClr val="EEF1F4"/>
                </a:solidFill>
                <a:latin typeface="Arial" pitchFamily="34" charset="0"/>
                <a:ea typeface="Arial" pitchFamily="34" charset="-122"/>
                <a:cs typeface="Arial" pitchFamily="34" charset="-120"/>
              </a:rPr>
              <a:t>Fingerprints</a:t>
            </a:r>
            <a:endParaRPr lang="en-US" sz="1500" dirty="0"/>
          </a:p>
        </p:txBody>
      </p:sp>
      <p:sp>
        <p:nvSpPr>
          <p:cNvPr id="18" name="anim_04_147"/>
          <p:cNvSpPr txBox="1"/>
          <p:nvPr/>
        </p:nvSpPr>
        <p:spPr>
          <a:xfrm>
            <a:off x="3840480" y="3054096"/>
            <a:ext cx="2377440" cy="548640"/>
          </a:xfrm>
          <a:prstGeom prst="rect">
            <a:avLst/>
          </a:prstGeom>
          <a:noFill/>
          <a:ln/>
        </p:spPr>
        <p:txBody>
          <a:bodyPr wrap="square" lIns="0" tIns="0" rIns="0" bIns="0" rtlCol="0" anchor="ctr"/>
          <a:lstStyle/>
          <a:p>
            <a:pPr marL="0" indent="0" algn="r">
              <a:buNone/>
            </a:pPr>
            <a:r>
              <a:rPr lang="en-US" sz="1500" dirty="0">
                <a:solidFill>
                  <a:srgbClr val="9AA7B4"/>
                </a:solidFill>
                <a:latin typeface="Calibri" pitchFamily="34" charset="0"/>
                <a:ea typeface="Calibri" pitchFamily="34" charset="-122"/>
                <a:cs typeface="Calibri" pitchFamily="34" charset="-120"/>
              </a:rPr>
              <a:t>Unusable</a:t>
            </a:r>
            <a:endParaRPr lang="en-US" sz="1500" dirty="0"/>
          </a:p>
        </p:txBody>
      </p:sp>
      <p:pic>
        <p:nvPicPr>
          <p:cNvPr id="19" name="anim_04_148" descr="preencoded.png"/>
          <p:cNvPicPr>
            <a:picLocks noChangeAspect="1"/>
          </p:cNvPicPr>
          <p:nvPr/>
        </p:nvPicPr>
        <p:blipFill>
          <a:blip r:embed="rId4"/>
          <a:stretch>
            <a:fillRect/>
          </a:stretch>
        </p:blipFill>
        <p:spPr>
          <a:xfrm>
            <a:off x="6382512" y="3191256"/>
            <a:ext cx="274320" cy="274320"/>
          </a:xfrm>
          <a:prstGeom prst="rect">
            <a:avLst/>
          </a:prstGeom>
        </p:spPr>
      </p:pic>
      <p:pic>
        <p:nvPicPr>
          <p:cNvPr id="20" name="anim_05_149" descr="preencoded.png"/>
          <p:cNvPicPr>
            <a:picLocks noChangeAspect="1"/>
          </p:cNvPicPr>
          <p:nvPr/>
        </p:nvPicPr>
        <p:blipFill>
          <a:blip r:embed="rId7"/>
          <a:stretch>
            <a:fillRect/>
          </a:stretch>
        </p:blipFill>
        <p:spPr>
          <a:xfrm>
            <a:off x="3520440" y="3721608"/>
            <a:ext cx="365760" cy="365760"/>
          </a:xfrm>
          <a:prstGeom prst="rect">
            <a:avLst/>
          </a:prstGeom>
        </p:spPr>
      </p:pic>
      <p:sp>
        <p:nvSpPr>
          <p:cNvPr id="21" name="anim_06_150"/>
          <p:cNvSpPr/>
          <p:nvPr/>
        </p:nvSpPr>
        <p:spPr>
          <a:xfrm>
            <a:off x="548640" y="4206240"/>
            <a:ext cx="6309360" cy="1600200"/>
          </a:xfrm>
          <a:prstGeom prst="roundRect">
            <a:avLst>
              <a:gd name="adj" fmla="val 5714"/>
            </a:avLst>
          </a:prstGeom>
          <a:solidFill>
            <a:srgbClr val="F5A524"/>
          </a:solidFill>
          <a:ln w="12700">
            <a:solidFill>
              <a:srgbClr val="F5A524"/>
            </a:solidFill>
            <a:prstDash val="solid"/>
          </a:ln>
        </p:spPr>
      </p:sp>
      <p:pic>
        <p:nvPicPr>
          <p:cNvPr id="22" name="anim_06_151" descr="preencoded.png"/>
          <p:cNvPicPr>
            <a:picLocks noChangeAspect="1"/>
          </p:cNvPicPr>
          <p:nvPr/>
        </p:nvPicPr>
        <p:blipFill>
          <a:blip r:embed="rId8"/>
          <a:stretch>
            <a:fillRect/>
          </a:stretch>
        </p:blipFill>
        <p:spPr>
          <a:xfrm>
            <a:off x="822960" y="4434840"/>
            <a:ext cx="457200" cy="457200"/>
          </a:xfrm>
          <a:prstGeom prst="rect">
            <a:avLst/>
          </a:prstGeom>
        </p:spPr>
      </p:pic>
      <p:sp>
        <p:nvSpPr>
          <p:cNvPr id="23" name="anim_06_152"/>
          <p:cNvSpPr txBox="1"/>
          <p:nvPr/>
        </p:nvSpPr>
        <p:spPr>
          <a:xfrm>
            <a:off x="1463040" y="4389120"/>
            <a:ext cx="5212080" cy="548640"/>
          </a:xfrm>
          <a:prstGeom prst="rect">
            <a:avLst/>
          </a:prstGeom>
          <a:noFill/>
          <a:ln/>
        </p:spPr>
        <p:txBody>
          <a:bodyPr wrap="square" lIns="0" tIns="0" rIns="0" bIns="0" rtlCol="0" anchor="ctr"/>
          <a:lstStyle/>
          <a:p>
            <a:pPr marL="0" indent="0">
              <a:buNone/>
            </a:pPr>
            <a:r>
              <a:rPr lang="en-US" sz="2000" b="1" dirty="0">
                <a:solidFill>
                  <a:srgbClr val="101418"/>
                </a:solidFill>
                <a:latin typeface="Arial" pitchFamily="34" charset="0"/>
                <a:ea typeface="Arial" pitchFamily="34" charset="-122"/>
                <a:cs typeface="Arial" pitchFamily="34" charset="-120"/>
              </a:rPr>
              <a:t>Titanium implant serial matches</a:t>
            </a:r>
            <a:endParaRPr lang="en-US" sz="2000" dirty="0"/>
          </a:p>
        </p:txBody>
      </p:sp>
      <p:sp>
        <p:nvSpPr>
          <p:cNvPr id="24" name="anim_06_153"/>
          <p:cNvSpPr txBox="1"/>
          <p:nvPr/>
        </p:nvSpPr>
        <p:spPr>
          <a:xfrm>
            <a:off x="1463040" y="4937760"/>
            <a:ext cx="5120640" cy="914400"/>
          </a:xfrm>
          <a:prstGeom prst="rect">
            <a:avLst/>
          </a:prstGeom>
          <a:noFill/>
          <a:ln/>
        </p:spPr>
        <p:txBody>
          <a:bodyPr wrap="square" lIns="0" tIns="0" rIns="0" bIns="0" rtlCol="0" anchor="t"/>
          <a:lstStyle/>
          <a:p>
            <a:pPr marL="0" indent="0">
              <a:buNone/>
            </a:pPr>
            <a:r>
              <a:rPr lang="en-US" sz="1400" dirty="0">
                <a:solidFill>
                  <a:srgbClr val="101418"/>
                </a:solidFill>
                <a:latin typeface="Calibri" pitchFamily="34" charset="0"/>
                <a:ea typeface="Calibri" pitchFamily="34" charset="-122"/>
                <a:cs typeface="Calibri" pitchFamily="34" charset="-120"/>
              </a:rPr>
              <a:t>Post-mortem exam ↔ the family’s hospital discharge papers. ConfirmationRoute falls back to the implant record → ranked #1 candidate.</a:t>
            </a:r>
            <a:endParaRPr lang="en-US" sz="1400" dirty="0"/>
          </a:p>
        </p:txBody>
      </p:sp>
      <p:sp>
        <p:nvSpPr>
          <p:cNvPr id="25" name="anim_07_154"/>
          <p:cNvSpPr txBox="1"/>
          <p:nvPr/>
        </p:nvSpPr>
        <p:spPr>
          <a:xfrm>
            <a:off x="7315200" y="2257317"/>
            <a:ext cx="1691640" cy="731520"/>
          </a:xfrm>
          <a:prstGeom prst="rect">
            <a:avLst/>
          </a:prstGeom>
          <a:noFill/>
          <a:ln/>
        </p:spPr>
        <p:txBody>
          <a:bodyPr wrap="square" lIns="0" tIns="0" rIns="0" bIns="0" rtlCol="0" anchor="ctr"/>
          <a:lstStyle/>
          <a:p>
            <a:pPr marL="0" indent="0">
              <a:buNone/>
            </a:pPr>
            <a:r>
              <a:rPr lang="en-US" sz="3000" b="1" dirty="0">
                <a:solidFill>
                  <a:srgbClr val="F5A524"/>
                </a:solidFill>
                <a:latin typeface="Arial" pitchFamily="34" charset="0"/>
                <a:ea typeface="Arial" pitchFamily="34" charset="-122"/>
                <a:cs typeface="Arial" pitchFamily="34" charset="-120"/>
              </a:rPr>
              <a:t>20 / 22</a:t>
            </a:r>
            <a:endParaRPr lang="en-US" sz="3000" dirty="0"/>
          </a:p>
        </p:txBody>
      </p:sp>
      <p:sp>
        <p:nvSpPr>
          <p:cNvPr id="26" name="anim_07_155"/>
          <p:cNvSpPr txBox="1"/>
          <p:nvPr/>
        </p:nvSpPr>
        <p:spPr>
          <a:xfrm>
            <a:off x="9052560" y="2257317"/>
            <a:ext cx="2590495" cy="73152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correct first choice on unseen data</a:t>
            </a:r>
            <a:endParaRPr lang="en-US" sz="1300" dirty="0"/>
          </a:p>
        </p:txBody>
      </p:sp>
      <p:sp>
        <p:nvSpPr>
          <p:cNvPr id="27" name="anim_07_156"/>
          <p:cNvSpPr txBox="1"/>
          <p:nvPr/>
        </p:nvSpPr>
        <p:spPr>
          <a:xfrm>
            <a:off x="7315200" y="3125997"/>
            <a:ext cx="1691640" cy="731520"/>
          </a:xfrm>
          <a:prstGeom prst="rect">
            <a:avLst/>
          </a:prstGeom>
          <a:noFill/>
          <a:ln/>
        </p:spPr>
        <p:txBody>
          <a:bodyPr wrap="square" lIns="0" tIns="0" rIns="0" bIns="0" rtlCol="0" anchor="ctr"/>
          <a:lstStyle/>
          <a:p>
            <a:pPr marL="0" indent="0">
              <a:buNone/>
            </a:pPr>
            <a:r>
              <a:rPr lang="en-US" sz="3000" b="1" dirty="0">
                <a:solidFill>
                  <a:srgbClr val="F5A524"/>
                </a:solidFill>
                <a:latin typeface="Arial" pitchFamily="34" charset="0"/>
                <a:ea typeface="Arial" pitchFamily="34" charset="-122"/>
                <a:cs typeface="Arial" pitchFamily="34" charset="-120"/>
              </a:rPr>
              <a:t>81 / 86</a:t>
            </a:r>
            <a:endParaRPr lang="en-US" sz="3000" dirty="0"/>
          </a:p>
        </p:txBody>
      </p:sp>
      <p:sp>
        <p:nvSpPr>
          <p:cNvPr id="28" name="anim_07_157"/>
          <p:cNvSpPr txBox="1"/>
          <p:nvPr/>
        </p:nvSpPr>
        <p:spPr>
          <a:xfrm>
            <a:off x="9052560" y="3125997"/>
            <a:ext cx="2590495" cy="73152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true match in the top three, end to end</a:t>
            </a:r>
            <a:endParaRPr lang="en-US" sz="1300" dirty="0"/>
          </a:p>
        </p:txBody>
      </p:sp>
      <p:sp>
        <p:nvSpPr>
          <p:cNvPr id="29" name="anim_07_158"/>
          <p:cNvSpPr txBox="1"/>
          <p:nvPr/>
        </p:nvSpPr>
        <p:spPr>
          <a:xfrm>
            <a:off x="7315200" y="3976747"/>
            <a:ext cx="1691640" cy="731520"/>
          </a:xfrm>
          <a:prstGeom prst="rect">
            <a:avLst/>
          </a:prstGeom>
          <a:noFill/>
          <a:ln/>
        </p:spPr>
        <p:txBody>
          <a:bodyPr wrap="square" lIns="0" tIns="0" rIns="0" bIns="0" rtlCol="0" anchor="ctr"/>
          <a:lstStyle/>
          <a:p>
            <a:pPr marL="0" indent="0">
              <a:buNone/>
            </a:pPr>
            <a:r>
              <a:rPr lang="en-US" sz="3000" b="1" dirty="0">
                <a:solidFill>
                  <a:srgbClr val="F5A524"/>
                </a:solidFill>
                <a:latin typeface="Arial" pitchFamily="34" charset="0"/>
                <a:ea typeface="Arial" pitchFamily="34" charset="-122"/>
                <a:cs typeface="Arial" pitchFamily="34" charset="-120"/>
              </a:rPr>
              <a:t>0</a:t>
            </a:r>
            <a:endParaRPr lang="en-US" sz="3000" dirty="0"/>
          </a:p>
        </p:txBody>
      </p:sp>
      <p:sp>
        <p:nvSpPr>
          <p:cNvPr id="30" name="anim_07_159"/>
          <p:cNvSpPr txBox="1"/>
          <p:nvPr/>
        </p:nvSpPr>
        <p:spPr>
          <a:xfrm>
            <a:off x="9052560" y="3994677"/>
            <a:ext cx="2590495" cy="731520"/>
          </a:xfrm>
          <a:prstGeom prst="rect">
            <a:avLst/>
          </a:prstGeom>
          <a:noFill/>
          <a:ln/>
        </p:spPr>
        <p:txBody>
          <a:bodyPr wrap="square" lIns="0" tIns="0" rIns="0" bIns="0" rtlCol="0" anchor="ctr"/>
          <a:lstStyle/>
          <a:p>
            <a:pPr marL="0" indent="0">
              <a:buNone/>
            </a:pPr>
            <a:r>
              <a:rPr lang="en-US" sz="1300" dirty="0">
                <a:solidFill>
                  <a:srgbClr val="EEF1F4"/>
                </a:solidFill>
                <a:latin typeface="Calibri" pitchFamily="34" charset="0"/>
                <a:ea typeface="Calibri" pitchFamily="34" charset="-122"/>
                <a:cs typeface="Calibri" pitchFamily="34" charset="-120"/>
              </a:rPr>
              <a:t>true matches missing from the shortlist</a:t>
            </a:r>
            <a:endParaRPr lang="en-US" sz="1300" dirty="0"/>
          </a:p>
        </p:txBody>
      </p:sp>
      <p:sp>
        <p:nvSpPr>
          <p:cNvPr id="35" name="Text 24"/>
          <p:cNvSpPr txBox="1"/>
          <p:nvPr/>
        </p:nvSpPr>
        <p:spPr>
          <a:xfrm>
            <a:off x="548640" y="6400800"/>
            <a:ext cx="9875520" cy="274320"/>
          </a:xfrm>
          <a:prstGeom prst="rect">
            <a:avLst/>
          </a:prstGeom>
          <a:noFill/>
          <a:ln/>
        </p:spPr>
        <p:txBody>
          <a:bodyPr wrap="square" lIns="0" tIns="0" rIns="0" bIns="0" rtlCol="0" anchor="ctr"/>
          <a:lstStyle/>
          <a:p>
            <a:pPr marL="0" indent="0">
              <a:buNone/>
            </a:pPr>
            <a:r>
              <a:rPr lang="en-US" sz="1000" dirty="0">
                <a:solidFill>
                  <a:srgbClr val="6B7885"/>
                </a:solidFill>
                <a:latin typeface="Calibri" pitchFamily="34" charset="0"/>
                <a:ea typeface="Calibri" pitchFamily="34" charset="-122"/>
                <a:cs typeface="Calibri" pitchFamily="34" charset="-120"/>
              </a:rPr>
              <a:t>Results: our evaluation on a synthetic multilingual DVI dataset (86 true pairs; 22-pair holdout never used to tune weights). Field time savings not yet measured.</a:t>
            </a:r>
            <a:endParaRPr lang="en-US" sz="1000" dirty="0"/>
          </a:p>
        </p:txBody>
      </p:sp>
      <p:sp>
        <p:nvSpPr>
          <p:cNvPr id="36" name="Text 25"/>
          <p:cNvSpPr txBox="1"/>
          <p:nvPr/>
        </p:nvSpPr>
        <p:spPr>
          <a:xfrm>
            <a:off x="11094415" y="6400800"/>
            <a:ext cx="548640" cy="274320"/>
          </a:xfrm>
          <a:prstGeom prst="rect">
            <a:avLst/>
          </a:prstGeom>
          <a:noFill/>
          <a:ln/>
        </p:spPr>
        <p:txBody>
          <a:bodyPr wrap="square" lIns="0" tIns="0" rIns="0" bIns="0" rtlCol="0" anchor="ctr"/>
          <a:lstStyle/>
          <a:p>
            <a:pPr marL="0" indent="0" algn="r">
              <a:buNone/>
            </a:pPr>
            <a:r>
              <a:rPr lang="en-US" sz="1000" dirty="0">
                <a:solidFill>
                  <a:srgbClr val="6B7885"/>
                </a:solidFill>
                <a:latin typeface="Calibri" pitchFamily="34" charset="0"/>
                <a:ea typeface="Calibri" pitchFamily="34" charset="-122"/>
                <a:cs typeface="Calibri"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childTnLst>
                          </p:cTn>
                        </p:par>
                        <p:par>
                          <p:cTn id="12" fill="hold">
                            <p:stCondLst>
                              <p:cond delay="9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5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childTnLst>
                                </p:cTn>
                              </p:par>
                            </p:childTnLst>
                          </p:cTn>
                        </p:par>
                        <p:par>
                          <p:cTn id="28" fill="hold">
                            <p:stCondLst>
                              <p:cond delay="135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childTnLst>
                          </p:cTn>
                        </p:par>
                        <p:par>
                          <p:cTn id="44" fill="hold">
                            <p:stCondLst>
                              <p:cond delay="1800"/>
                            </p:stCondLst>
                            <p:childTnLst>
                              <p:par>
                                <p:cTn id="45" presetID="10"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5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5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5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5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childTnLst>
                          </p:cTn>
                        </p:par>
                        <p:par>
                          <p:cTn id="60" fill="hold">
                            <p:stCondLst>
                              <p:cond delay="2250"/>
                            </p:stCondLst>
                            <p:childTnLst>
                              <p:par>
                                <p:cTn id="61" presetID="10"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50"/>
                                        <p:tgtEl>
                                          <p:spTgt spid="20"/>
                                        </p:tgtEl>
                                      </p:cBhvr>
                                    </p:animEffect>
                                  </p:childTnLst>
                                </p:cTn>
                              </p:par>
                            </p:childTnLst>
                          </p:cTn>
                        </p:par>
                        <p:par>
                          <p:cTn id="64" fill="hold">
                            <p:stCondLst>
                              <p:cond delay="2700"/>
                            </p:stCondLst>
                            <p:childTnLst>
                              <p:par>
                                <p:cTn id="65" presetID="10" presetClass="entr" presetSubtype="0" fill="hold"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50"/>
                                        <p:tgtEl>
                                          <p:spTgt spid="21"/>
                                        </p:tgtEl>
                                      </p:cBhvr>
                                    </p:animEffect>
                                  </p:childTnLst>
                                </p:cTn>
                              </p:par>
                              <p:par>
                                <p:cTn id="68" presetID="10" presetClass="entr" presetSubtype="0" fill="hold"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450"/>
                                        <p:tgtEl>
                                          <p:spTgt spid="22"/>
                                        </p:tgtEl>
                                      </p:cBhvr>
                                    </p:animEffect>
                                  </p:childTnLst>
                                </p:cTn>
                              </p:par>
                              <p:par>
                                <p:cTn id="71" presetID="10"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50"/>
                                        <p:tgtEl>
                                          <p:spTgt spid="23"/>
                                        </p:tgtEl>
                                      </p:cBhvr>
                                    </p:animEffect>
                                  </p:childTnLst>
                                </p:cTn>
                              </p:par>
                              <p:par>
                                <p:cTn id="74" presetID="10" presetClass="entr" presetSubtype="0" fill="hold"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450"/>
                                        <p:tgtEl>
                                          <p:spTgt spid="24"/>
                                        </p:tgtEl>
                                      </p:cBhvr>
                                    </p:animEffect>
                                  </p:childTnLst>
                                </p:cTn>
                              </p:par>
                            </p:childTnLst>
                          </p:cTn>
                        </p:par>
                        <p:par>
                          <p:cTn id="77" fill="hold">
                            <p:stCondLst>
                              <p:cond delay="3150"/>
                            </p:stCondLst>
                            <p:childTnLst>
                              <p:par>
                                <p:cTn id="78" presetID="10" presetClass="entr" presetSubtype="0"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450"/>
                                        <p:tgtEl>
                                          <p:spTgt spid="25"/>
                                        </p:tgtEl>
                                      </p:cBhvr>
                                    </p:animEffect>
                                  </p:childTnLst>
                                </p:cTn>
                              </p:par>
                              <p:par>
                                <p:cTn id="81" presetID="10" presetClass="entr" presetSubtype="0"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450"/>
                                        <p:tgtEl>
                                          <p:spTgt spid="26"/>
                                        </p:tgtEl>
                                      </p:cBhvr>
                                    </p:animEffect>
                                  </p:childTnLst>
                                </p:cTn>
                              </p:par>
                              <p:par>
                                <p:cTn id="84" presetID="10" presetClass="entr" presetSubtype="0" fill="hold"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450"/>
                                        <p:tgtEl>
                                          <p:spTgt spid="27"/>
                                        </p:tgtEl>
                                      </p:cBhvr>
                                    </p:animEffect>
                                  </p:childTnLst>
                                </p:cTn>
                              </p:par>
                              <p:par>
                                <p:cTn id="87" presetID="10" presetClass="entr" presetSubtype="0" fill="hold"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5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450"/>
                                        <p:tgtEl>
                                          <p:spTgt spid="29"/>
                                        </p:tgtEl>
                                      </p:cBhvr>
                                    </p:animEffect>
                                  </p:childTnLst>
                                </p:cTn>
                              </p:par>
                              <p:par>
                                <p:cTn id="93" presetID="10" presetClass="entr" presetSubtype="0" fill="hold"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1244</Words>
  <Application>Microsoft Office PowerPoint</Application>
  <PresentationFormat>Widescreen</PresentationFormat>
  <Paragraphs>123</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DVI Coordinator — Tactical Tensors</dc:title>
  <dc:subject>PptxGenJS Presentation</dc:subject>
  <dc:creator>PptxGenJS</dc:creator>
  <cp:lastModifiedBy>Pratik Jagtap</cp:lastModifiedBy>
  <cp:revision>4</cp:revision>
  <dcterms:created xsi:type="dcterms:W3CDTF">2026-09-28T09:27:59Z</dcterms:created>
  <dcterms:modified xsi:type="dcterms:W3CDTF">2026-09-28T10:21:12Z</dcterms:modified>
</cp:coreProperties>
</file>